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324" r:id="rId9"/>
    <p:sldId id="325" r:id="rId10"/>
    <p:sldId id="326"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10" r:id="rId52"/>
    <p:sldId id="311" r:id="rId53"/>
    <p:sldId id="400"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7" r:id="rId67"/>
    <p:sldId id="328" r:id="rId68"/>
    <p:sldId id="330" r:id="rId69"/>
    <p:sldId id="331" r:id="rId70"/>
    <p:sldId id="332" r:id="rId71"/>
    <p:sldId id="333" r:id="rId72"/>
    <p:sldId id="263" r:id="rId73"/>
    <p:sldId id="265" r:id="rId74"/>
    <p:sldId id="334" r:id="rId75"/>
    <p:sldId id="336" r:id="rId76"/>
    <p:sldId id="338" r:id="rId77"/>
    <p:sldId id="271" r:id="rId78"/>
    <p:sldId id="339" r:id="rId79"/>
    <p:sldId id="340" r:id="rId80"/>
    <p:sldId id="341" r:id="rId81"/>
    <p:sldId id="342" r:id="rId82"/>
    <p:sldId id="343" r:id="rId83"/>
    <p:sldId id="344" r:id="rId84"/>
    <p:sldId id="345" r:id="rId85"/>
    <p:sldId id="346" r:id="rId86"/>
    <p:sldId id="347" r:id="rId87"/>
    <p:sldId id="348" r:id="rId88"/>
    <p:sldId id="349" r:id="rId89"/>
    <p:sldId id="350" r:id="rId90"/>
    <p:sldId id="351" r:id="rId91"/>
    <p:sldId id="352" r:id="rId92"/>
    <p:sldId id="353" r:id="rId93"/>
    <p:sldId id="354" r:id="rId94"/>
    <p:sldId id="288" r:id="rId95"/>
    <p:sldId id="355" r:id="rId96"/>
    <p:sldId id="356" r:id="rId97"/>
    <p:sldId id="358" r:id="rId98"/>
    <p:sldId id="359" r:id="rId99"/>
    <p:sldId id="360" r:id="rId100"/>
    <p:sldId id="361" r:id="rId101"/>
    <p:sldId id="362" r:id="rId102"/>
    <p:sldId id="363" r:id="rId103"/>
    <p:sldId id="365" r:id="rId104"/>
    <p:sldId id="367" r:id="rId105"/>
    <p:sldId id="368" r:id="rId106"/>
    <p:sldId id="369" r:id="rId107"/>
    <p:sldId id="371" r:id="rId108"/>
    <p:sldId id="372" r:id="rId109"/>
    <p:sldId id="373" r:id="rId110"/>
    <p:sldId id="308" r:id="rId111"/>
    <p:sldId id="309" r:id="rId112"/>
    <p:sldId id="374" r:id="rId113"/>
    <p:sldId id="375" r:id="rId114"/>
    <p:sldId id="376" r:id="rId115"/>
    <p:sldId id="377" r:id="rId116"/>
    <p:sldId id="378" r:id="rId117"/>
    <p:sldId id="380" r:id="rId118"/>
    <p:sldId id="381" r:id="rId119"/>
    <p:sldId id="382" r:id="rId120"/>
    <p:sldId id="384" r:id="rId121"/>
    <p:sldId id="386" r:id="rId122"/>
    <p:sldId id="387" r:id="rId123"/>
    <p:sldId id="388" r:id="rId124"/>
    <p:sldId id="393" r:id="rId125"/>
    <p:sldId id="397" r:id="rId126"/>
    <p:sldId id="398" r:id="rId127"/>
    <p:sldId id="399" r:id="rId1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1" autoAdjust="0"/>
    <p:restoredTop sz="94660"/>
  </p:normalViewPr>
  <p:slideViewPr>
    <p:cSldViewPr snapToGrid="0" snapToObjects="1">
      <p:cViewPr varScale="1">
        <p:scale>
          <a:sx n="85" d="100"/>
          <a:sy n="85" d="100"/>
        </p:scale>
        <p:origin x="427" y="62"/>
      </p:cViewPr>
      <p:guideLst>
        <p:guide orient="horz" pos="2160"/>
        <p:guide pos="2880"/>
      </p:guideLst>
    </p:cSldViewPr>
  </p:slideViewPr>
  <p:notesTextViewPr>
    <p:cViewPr>
      <p:scale>
        <a:sx n="100" d="100"/>
        <a:sy n="100" d="100"/>
      </p:scale>
      <p:origin x="0" y="0"/>
    </p:cViewPr>
  </p:notesTextViewPr>
  <p:sorterViewPr>
    <p:cViewPr>
      <p:scale>
        <a:sx n="25" d="100"/>
        <a:sy n="25"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544E5-7EA9-A00F-222A-D4EFD78DEF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dirty="0"/>
          </a:p>
        </p:txBody>
      </p:sp>
      <p:sp>
        <p:nvSpPr>
          <p:cNvPr id="3" name="Subtitle 2">
            <a:extLst>
              <a:ext uri="{FF2B5EF4-FFF2-40B4-BE49-F238E27FC236}">
                <a16:creationId xmlns:a16="http://schemas.microsoft.com/office/drawing/2014/main" id="{C4F15C68-2B3F-571A-7DF0-7D84C2B5203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324CA8-D6DB-E063-9105-674BE4F57875}"/>
              </a:ext>
            </a:extLst>
          </p:cNvPr>
          <p:cNvSpPr>
            <a:spLocks noGrp="1"/>
          </p:cNvSpPr>
          <p:nvPr>
            <p:ph type="dt" sz="half" idx="10"/>
          </p:nvPr>
        </p:nvSpPr>
        <p:spPr/>
        <p:txBody>
          <a:bodyPr/>
          <a:lstStyle/>
          <a:p>
            <a:fld id="{5BCAD085-E8A6-8845-BD4E-CB4CCA059FC4}" type="datetimeFigureOut">
              <a:rPr lang="en-US" smtClean="0"/>
              <a:t>7/30/2026</a:t>
            </a:fld>
            <a:endParaRPr lang="en-US"/>
          </a:p>
        </p:txBody>
      </p:sp>
      <p:sp>
        <p:nvSpPr>
          <p:cNvPr id="5" name="Footer Placeholder 4">
            <a:extLst>
              <a:ext uri="{FF2B5EF4-FFF2-40B4-BE49-F238E27FC236}">
                <a16:creationId xmlns:a16="http://schemas.microsoft.com/office/drawing/2014/main" id="{A2B9F916-4B1C-3D95-33C8-9363A83D51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33C38B-70AE-5980-A3CD-A4ECE0FE483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019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2B496-8638-954D-4D09-C97F3AC8E1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F1CEC1-09D0-ABCF-EC32-672B8E2C1C72}"/>
              </a:ext>
            </a:extLst>
          </p:cNvPr>
          <p:cNvSpPr>
            <a:spLocks noGrp="1"/>
          </p:cNvSpPr>
          <p:nvPr>
            <p:ph idx="1"/>
          </p:nvPr>
        </p:nvSpPr>
        <p:spPr>
          <a:xfrm>
            <a:off x="838200" y="1825625"/>
            <a:ext cx="10515600" cy="4351338"/>
          </a:xfrm>
          <a:prstGeom prst="roundRect">
            <a:avLst>
              <a:gd name="adj" fmla="val 4177"/>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B72C83-063E-4D70-4E31-94AF42721228}"/>
              </a:ext>
            </a:extLst>
          </p:cNvPr>
          <p:cNvSpPr>
            <a:spLocks noGrp="1"/>
          </p:cNvSpPr>
          <p:nvPr>
            <p:ph type="dt" sz="half" idx="10"/>
          </p:nvPr>
        </p:nvSpPr>
        <p:spPr/>
        <p:txBody>
          <a:bodyPr/>
          <a:lstStyle/>
          <a:p>
            <a:fld id="{5BCAD085-E8A6-8845-BD4E-CB4CCA059FC4}" type="datetimeFigureOut">
              <a:rPr lang="en-US" smtClean="0"/>
              <a:t>7/30/2026</a:t>
            </a:fld>
            <a:endParaRPr lang="en-US"/>
          </a:p>
        </p:txBody>
      </p:sp>
      <p:sp>
        <p:nvSpPr>
          <p:cNvPr id="5" name="Footer Placeholder 4">
            <a:extLst>
              <a:ext uri="{FF2B5EF4-FFF2-40B4-BE49-F238E27FC236}">
                <a16:creationId xmlns:a16="http://schemas.microsoft.com/office/drawing/2014/main" id="{8531F97A-D64B-7236-A706-E421802512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059C3-F302-3320-7EC0-1110229FD35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5571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003E3-9AC9-6E4D-2CA7-E9B5F60664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B9BBAA-7735-4006-4526-51F26B538BD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325614-D125-39B8-FA07-FF17A1E77635}"/>
              </a:ext>
            </a:extLst>
          </p:cNvPr>
          <p:cNvSpPr>
            <a:spLocks noGrp="1"/>
          </p:cNvSpPr>
          <p:nvPr>
            <p:ph type="dt" sz="half" idx="10"/>
          </p:nvPr>
        </p:nvSpPr>
        <p:spPr/>
        <p:txBody>
          <a:bodyPr/>
          <a:lstStyle/>
          <a:p>
            <a:fld id="{5BCAD085-E8A6-8845-BD4E-CB4CCA059FC4}" type="datetimeFigureOut">
              <a:rPr lang="en-US" smtClean="0"/>
              <a:t>7/30/2026</a:t>
            </a:fld>
            <a:endParaRPr lang="en-US"/>
          </a:p>
        </p:txBody>
      </p:sp>
      <p:sp>
        <p:nvSpPr>
          <p:cNvPr id="5" name="Footer Placeholder 4">
            <a:extLst>
              <a:ext uri="{FF2B5EF4-FFF2-40B4-BE49-F238E27FC236}">
                <a16:creationId xmlns:a16="http://schemas.microsoft.com/office/drawing/2014/main" id="{2801BEE3-EE59-8FAC-294A-B32FAE5632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1334F7-18E4-AD6F-99B3-E81880B243D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9432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34CF3-3D4D-C273-8CCD-5EAD909597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A1182B-98E8-AA42-1A59-7EFEA90A808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18EEEB-B32D-8CC9-16A6-554B5027B91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0709EF-B791-2EEA-36E2-38104C124C91}"/>
              </a:ext>
            </a:extLst>
          </p:cNvPr>
          <p:cNvSpPr>
            <a:spLocks noGrp="1"/>
          </p:cNvSpPr>
          <p:nvPr>
            <p:ph type="dt" sz="half" idx="10"/>
          </p:nvPr>
        </p:nvSpPr>
        <p:spPr/>
        <p:txBody>
          <a:bodyPr/>
          <a:lstStyle/>
          <a:p>
            <a:fld id="{5BCAD085-E8A6-8845-BD4E-CB4CCA059FC4}" type="datetimeFigureOut">
              <a:rPr lang="en-US" smtClean="0"/>
              <a:t>7/30/2026</a:t>
            </a:fld>
            <a:endParaRPr lang="en-US"/>
          </a:p>
        </p:txBody>
      </p:sp>
      <p:sp>
        <p:nvSpPr>
          <p:cNvPr id="6" name="Footer Placeholder 5">
            <a:extLst>
              <a:ext uri="{FF2B5EF4-FFF2-40B4-BE49-F238E27FC236}">
                <a16:creationId xmlns:a16="http://schemas.microsoft.com/office/drawing/2014/main" id="{5715842E-6F3A-A85B-6D53-65B5AE8C2E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AEBD62-29A1-2911-ADF8-F8BCCA8032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8644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D5427-74A9-5ED8-7773-0A9D0520D4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FBD954-6CF1-9CE6-CACF-455F6CC77E8C}"/>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18FDFA-E79B-681D-21E4-8E6CB44C99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421589-80D3-F4DE-2BF3-EF09A5477DAC}"/>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54D82-8EA7-380F-7522-B00F34C5AA0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AFC3FA-8362-05F0-1E84-C69C84DCA3D7}"/>
              </a:ext>
            </a:extLst>
          </p:cNvPr>
          <p:cNvSpPr>
            <a:spLocks noGrp="1"/>
          </p:cNvSpPr>
          <p:nvPr>
            <p:ph type="dt" sz="half" idx="10"/>
          </p:nvPr>
        </p:nvSpPr>
        <p:spPr/>
        <p:txBody>
          <a:bodyPr/>
          <a:lstStyle/>
          <a:p>
            <a:fld id="{5BCAD085-E8A6-8845-BD4E-CB4CCA059FC4}" type="datetimeFigureOut">
              <a:rPr lang="en-US" smtClean="0"/>
              <a:t>7/30/2026</a:t>
            </a:fld>
            <a:endParaRPr lang="en-US"/>
          </a:p>
        </p:txBody>
      </p:sp>
      <p:sp>
        <p:nvSpPr>
          <p:cNvPr id="8" name="Footer Placeholder 7">
            <a:extLst>
              <a:ext uri="{FF2B5EF4-FFF2-40B4-BE49-F238E27FC236}">
                <a16:creationId xmlns:a16="http://schemas.microsoft.com/office/drawing/2014/main" id="{E0F4058C-EFDC-73FA-7296-F85EE350D7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CFA4C7-97BF-BB6D-558A-3F9C45D2175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0145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93F998-5CFD-9FFA-739A-73D9D616D156}"/>
              </a:ext>
            </a:extLst>
          </p:cNvPr>
          <p:cNvSpPr>
            <a:spLocks noGrp="1"/>
          </p:cNvSpPr>
          <p:nvPr>
            <p:ph type="dt" sz="half" idx="10"/>
          </p:nvPr>
        </p:nvSpPr>
        <p:spPr/>
        <p:txBody>
          <a:bodyPr/>
          <a:lstStyle/>
          <a:p>
            <a:fld id="{5BCAD085-E8A6-8845-BD4E-CB4CCA059FC4}" type="datetimeFigureOut">
              <a:rPr lang="en-US" smtClean="0"/>
              <a:t>7/30/2026</a:t>
            </a:fld>
            <a:endParaRPr lang="en-US"/>
          </a:p>
        </p:txBody>
      </p:sp>
      <p:sp>
        <p:nvSpPr>
          <p:cNvPr id="3" name="Footer Placeholder 2">
            <a:extLst>
              <a:ext uri="{FF2B5EF4-FFF2-40B4-BE49-F238E27FC236}">
                <a16:creationId xmlns:a16="http://schemas.microsoft.com/office/drawing/2014/main" id="{736F2A18-A0A1-3DF4-CA91-995A773C67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8E8E93-DC20-D6E7-8A2C-80486A532A4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92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D7E1B-3550-3840-CD6B-54BC1D478A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4AA294-D019-64D6-420D-13887C44817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6530B7-90A7-3613-AC11-A4CB41AF5EB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3F1F35-E180-2D84-1260-3DD835132F61}"/>
              </a:ext>
            </a:extLst>
          </p:cNvPr>
          <p:cNvSpPr>
            <a:spLocks noGrp="1"/>
          </p:cNvSpPr>
          <p:nvPr>
            <p:ph type="dt" sz="half" idx="10"/>
          </p:nvPr>
        </p:nvSpPr>
        <p:spPr/>
        <p:txBody>
          <a:bodyPr/>
          <a:lstStyle/>
          <a:p>
            <a:fld id="{5BCAD085-E8A6-8845-BD4E-CB4CCA059FC4}" type="datetimeFigureOut">
              <a:rPr lang="en-US" smtClean="0"/>
              <a:t>7/30/2026</a:t>
            </a:fld>
            <a:endParaRPr lang="en-US"/>
          </a:p>
        </p:txBody>
      </p:sp>
      <p:sp>
        <p:nvSpPr>
          <p:cNvPr id="6" name="Footer Placeholder 5">
            <a:extLst>
              <a:ext uri="{FF2B5EF4-FFF2-40B4-BE49-F238E27FC236}">
                <a16:creationId xmlns:a16="http://schemas.microsoft.com/office/drawing/2014/main" id="{7044B64A-BFA1-F5FA-CA69-5D81434A2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10EBEF-E358-2D3D-A2F9-B6EB3A1BF31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6952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252C4-2991-64A8-3E05-2F2A11D187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9B7D28-C3EE-DA99-F6DF-A1DC180A7EE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EE57CCCF-DEC8-7499-A7D2-878197E245C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9535CF-242A-22B4-F764-120A3371536C}"/>
              </a:ext>
            </a:extLst>
          </p:cNvPr>
          <p:cNvSpPr>
            <a:spLocks noGrp="1"/>
          </p:cNvSpPr>
          <p:nvPr>
            <p:ph type="dt" sz="half" idx="10"/>
          </p:nvPr>
        </p:nvSpPr>
        <p:spPr/>
        <p:txBody>
          <a:bodyPr/>
          <a:lstStyle/>
          <a:p>
            <a:fld id="{5BCAD085-E8A6-8845-BD4E-CB4CCA059FC4}" type="datetimeFigureOut">
              <a:rPr lang="en-US" smtClean="0"/>
              <a:t>7/30/2026</a:t>
            </a:fld>
            <a:endParaRPr lang="en-US"/>
          </a:p>
        </p:txBody>
      </p:sp>
      <p:sp>
        <p:nvSpPr>
          <p:cNvPr id="6" name="Footer Placeholder 5">
            <a:extLst>
              <a:ext uri="{FF2B5EF4-FFF2-40B4-BE49-F238E27FC236}">
                <a16:creationId xmlns:a16="http://schemas.microsoft.com/office/drawing/2014/main" id="{696783F1-76D6-C1A9-D67F-2FB614073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A694F2-6D19-29F7-3336-F3AE37B7757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91309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C3A7F-4EF9-67FA-EE14-171F15FA0D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3C73FB-80A5-F9CD-8920-45772AC4BF4C}"/>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795C18-2C1E-842B-417A-C5BB0492DE54}"/>
              </a:ext>
            </a:extLst>
          </p:cNvPr>
          <p:cNvSpPr>
            <a:spLocks noGrp="1"/>
          </p:cNvSpPr>
          <p:nvPr>
            <p:ph type="dt" sz="half" idx="10"/>
          </p:nvPr>
        </p:nvSpPr>
        <p:spPr/>
        <p:txBody>
          <a:bodyPr/>
          <a:lstStyle/>
          <a:p>
            <a:fld id="{5BCAD085-E8A6-8845-BD4E-CB4CCA059FC4}" type="datetimeFigureOut">
              <a:rPr lang="en-US" smtClean="0"/>
              <a:t>7/30/2026</a:t>
            </a:fld>
            <a:endParaRPr lang="en-US"/>
          </a:p>
        </p:txBody>
      </p:sp>
      <p:sp>
        <p:nvSpPr>
          <p:cNvPr id="5" name="Footer Placeholder 4">
            <a:extLst>
              <a:ext uri="{FF2B5EF4-FFF2-40B4-BE49-F238E27FC236}">
                <a16:creationId xmlns:a16="http://schemas.microsoft.com/office/drawing/2014/main" id="{6DF08207-1CD2-27A0-E167-60E3A40371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1D08D8-2F64-5C6E-959B-A18A7017F48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7240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B9B0B3-0B63-BDB9-ED7B-5690C538CD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B7BFFE-AAD6-8C50-43D9-A990F6256133}"/>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5AC6E2-04DF-6DEE-3397-2F511BB8338B}"/>
              </a:ext>
            </a:extLst>
          </p:cNvPr>
          <p:cNvSpPr>
            <a:spLocks noGrp="1"/>
          </p:cNvSpPr>
          <p:nvPr>
            <p:ph type="dt" sz="half" idx="10"/>
          </p:nvPr>
        </p:nvSpPr>
        <p:spPr/>
        <p:txBody>
          <a:bodyPr/>
          <a:lstStyle/>
          <a:p>
            <a:fld id="{5BCAD085-E8A6-8845-BD4E-CB4CCA059FC4}" type="datetimeFigureOut">
              <a:rPr lang="en-US" smtClean="0"/>
              <a:t>7/30/2026</a:t>
            </a:fld>
            <a:endParaRPr lang="en-US"/>
          </a:p>
        </p:txBody>
      </p:sp>
      <p:sp>
        <p:nvSpPr>
          <p:cNvPr id="5" name="Footer Placeholder 4">
            <a:extLst>
              <a:ext uri="{FF2B5EF4-FFF2-40B4-BE49-F238E27FC236}">
                <a16:creationId xmlns:a16="http://schemas.microsoft.com/office/drawing/2014/main" id="{EBFD5E37-2472-4004-E51E-65D6D8A00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F1BAC8-106B-CFB9-8D4B-11A9E7D753F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2087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Only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9AFC7-5A92-11DE-9403-A24DCCB904E8}"/>
              </a:ext>
            </a:extLst>
          </p:cNvPr>
          <p:cNvSpPr>
            <a:spLocks noGrp="1"/>
          </p:cNvSpPr>
          <p:nvPr>
            <p:ph type="title"/>
          </p:nvPr>
        </p:nvSpPr>
        <p:spPr>
          <a:xfrm>
            <a:off x="986287" y="1443517"/>
            <a:ext cx="10515600" cy="1325563"/>
          </a:xfrm>
        </p:spPr>
        <p:txBody>
          <a:bodyPr/>
          <a:lstStyle>
            <a:lvl1pPr>
              <a:defRPr b="1">
                <a:solidFill>
                  <a:schemeClr val="tx1"/>
                </a:solidFill>
                <a:latin typeface="Quicksand" pitchFamily="2" charset="0"/>
              </a:defRPr>
            </a:lvl1pPr>
          </a:lstStyle>
          <a:p>
            <a:r>
              <a:rPr lang="en-US"/>
              <a:t>Click to edit Master title style</a:t>
            </a:r>
            <a:endParaRPr lang="en-IN" dirty="0"/>
          </a:p>
        </p:txBody>
      </p:sp>
      <p:sp>
        <p:nvSpPr>
          <p:cNvPr id="5" name="Slide Number Placeholder 4">
            <a:extLst>
              <a:ext uri="{FF2B5EF4-FFF2-40B4-BE49-F238E27FC236}">
                <a16:creationId xmlns:a16="http://schemas.microsoft.com/office/drawing/2014/main" id="{7415A780-312C-AC19-25E9-5A8A6C0B7D6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7045106"/>
      </p:ext>
    </p:extLst>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Rect">
            <a:extLst>
              <a:ext uri="{FF2B5EF4-FFF2-40B4-BE49-F238E27FC236}">
                <a16:creationId xmlns:a16="http://schemas.microsoft.com/office/drawing/2014/main" id="{1CEABFB7-0E55-6B42-07AC-811A73351439}"/>
              </a:ext>
            </a:extLst>
          </p:cNvPr>
          <p:cNvPicPr>
            <a:picLocks noChangeAspect="1"/>
          </p:cNvPicPr>
          <p:nvPr/>
        </p:nvPicPr>
        <p:blipFill rotWithShape="1">
          <a:blip r:embed="rId13">
            <a:alphaModFix/>
          </a:blip>
          <a:stretch/>
        </p:blipFill>
        <p:spPr>
          <a:xfrm>
            <a:off x="0" y="0"/>
            <a:ext cx="10601325" cy="1420273"/>
          </a:xfrm>
          <a:prstGeom prst="rect">
            <a:avLst/>
          </a:prstGeom>
        </p:spPr>
      </p:pic>
      <p:sp>
        <p:nvSpPr>
          <p:cNvPr id="2" name="Title Placeholder 1">
            <a:extLst>
              <a:ext uri="{FF2B5EF4-FFF2-40B4-BE49-F238E27FC236}">
                <a16:creationId xmlns:a16="http://schemas.microsoft.com/office/drawing/2014/main" id="{7B3DBBF8-B311-9293-FDF3-4A284D9FB72E}"/>
              </a:ext>
            </a:extLst>
          </p:cNvPr>
          <p:cNvSpPr>
            <a:spLocks noGrp="1"/>
          </p:cNvSpPr>
          <p:nvPr>
            <p:ph type="title"/>
          </p:nvPr>
        </p:nvSpPr>
        <p:spPr>
          <a:xfrm>
            <a:off x="424132" y="94710"/>
            <a:ext cx="10515600" cy="1325563"/>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60C9F6C6-73A5-0E7A-7077-E131FC32C69A}"/>
              </a:ext>
            </a:extLst>
          </p:cNvPr>
          <p:cNvSpPr>
            <a:spLocks noGrp="1"/>
          </p:cNvSpPr>
          <p:nvPr>
            <p:ph type="body" idx="1"/>
          </p:nvPr>
        </p:nvSpPr>
        <p:spPr>
          <a:xfrm>
            <a:off x="838200" y="1825625"/>
            <a:ext cx="10515600" cy="4351338"/>
          </a:xfrm>
          <a:prstGeom prst="roundRect">
            <a:avLst>
              <a:gd name="adj" fmla="val 4177"/>
            </a:avLst>
          </a:prstGeom>
          <a:solidFill>
            <a:srgbClr val="DDE4F8"/>
          </a:solidFill>
        </p:spPr>
        <p:txBody>
          <a:bodyPr vert="horz" lIns="91440" tIns="45720" rIns="91440" bIns="45720" rtlCol="0" anchor="ctr">
            <a:norm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endParaRPr lang="en-IN" dirty="0"/>
          </a:p>
        </p:txBody>
      </p:sp>
      <p:sp>
        <p:nvSpPr>
          <p:cNvPr id="4" name="Date Placeholder 3">
            <a:extLst>
              <a:ext uri="{FF2B5EF4-FFF2-40B4-BE49-F238E27FC236}">
                <a16:creationId xmlns:a16="http://schemas.microsoft.com/office/drawing/2014/main" id="{20C7E770-D3AD-DCE7-4035-43C1F5E493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7/30/2026</a:t>
            </a:fld>
            <a:endParaRPr lang="en-US"/>
          </a:p>
        </p:txBody>
      </p:sp>
      <p:sp>
        <p:nvSpPr>
          <p:cNvPr id="5" name="Footer Placeholder 4">
            <a:extLst>
              <a:ext uri="{FF2B5EF4-FFF2-40B4-BE49-F238E27FC236}">
                <a16:creationId xmlns:a16="http://schemas.microsoft.com/office/drawing/2014/main" id="{DC1A65FE-6E8B-5A92-BCDE-6641812534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337AEF-085A-A1E4-5D23-50EC9146D0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8" name="layoutShapeInnerChild1">
            <a:extLst>
              <a:ext uri="{FF2B5EF4-FFF2-40B4-BE49-F238E27FC236}">
                <a16:creationId xmlns:a16="http://schemas.microsoft.com/office/drawing/2014/main" id="{5DE74BB6-3FFA-3BBE-C247-88A534B93E63}"/>
              </a:ext>
            </a:extLst>
          </p:cNvPr>
          <p:cNvPicPr>
            <a:picLocks noChangeAspect="1"/>
          </p:cNvPicPr>
          <p:nvPr/>
        </p:nvPicPr>
        <p:blipFill rotWithShape="1">
          <a:blip r:embed="rId14">
            <a:alphaModFix/>
            <a:extLst>
              <a:ext uri="{899FBA48-7B2C-474C-B2AE-7FA3B76AA679}">
                <a14:useLocalDpi xmlns:a14="http://schemas.microsoft.com/office/drawing/2010/main" xmlns:p14="http://schemas.microsoft.com/office/powerpoint/2010/main" xmlns:asvg="http://schemas.microsoft.com/office/drawing/2016/SVG/main" xmlns:a16="http://schemas.microsoft.com/office/drawing/2014/main" xmlns="" val="0"/>
              </a:ext>
            </a:extLst>
          </a:blip>
          <a:srcRect t="-261" b="-261"/>
          <a:stretch/>
        </p:blipFill>
        <p:spPr>
          <a:xfrm>
            <a:off x="11743019" y="329183"/>
            <a:ext cx="448981" cy="897007"/>
          </a:xfrm>
          <a:prstGeom prst="rect">
            <a:avLst/>
          </a:prstGeom>
        </p:spPr>
      </p:pic>
    </p:spTree>
    <p:extLst>
      <p:ext uri="{BB962C8B-B14F-4D97-AF65-F5344CB8AC3E}">
        <p14:creationId xmlns:p14="http://schemas.microsoft.com/office/powerpoint/2010/main" val="25331553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bg/>
                                          </p:spTgt>
                                        </p:tgtEl>
                                        <p:attrNameLst>
                                          <p:attrName>style.visibility</p:attrName>
                                        </p:attrNameLst>
                                      </p:cBhvr>
                                      <p:to>
                                        <p:strVal val="visible"/>
                                      </p:to>
                                    </p:set>
                                    <p:animEffect transition="in" filter="fade">
                                      <p:cBhvr>
                                        <p:cTn id="26" dur="1000"/>
                                        <p:tgtEl>
                                          <p:spTgt spid="3">
                                            <p:bg/>
                                          </p:spTgt>
                                        </p:tgtEl>
                                      </p:cBhvr>
                                    </p:animEffect>
                                    <p:anim calcmode="lin" valueType="num">
                                      <p:cBhvr>
                                        <p:cTn id="27" dur="1000" fill="hold"/>
                                        <p:tgtEl>
                                          <p:spTgt spid="3">
                                            <p:bg/>
                                          </p:spTgt>
                                        </p:tgtEl>
                                        <p:attrNameLst>
                                          <p:attrName>ppt_x</p:attrName>
                                        </p:attrNameLst>
                                      </p:cBhvr>
                                      <p:tavLst>
                                        <p:tav tm="0">
                                          <p:val>
                                            <p:strVal val="#ppt_x"/>
                                          </p:val>
                                        </p:tav>
                                        <p:tav tm="100000">
                                          <p:val>
                                            <p:strVal val="#ppt_x"/>
                                          </p:val>
                                        </p:tav>
                                      </p:tavLst>
                                    </p:anim>
                                    <p:anim calcmode="lin" valueType="num">
                                      <p:cBhvr>
                                        <p:cTn id="28"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animEffect transition="in" filter="fade">
                                      <p:cBhvr>
                                        <p:cTn id="33" dur="1000"/>
                                        <p:tgtEl>
                                          <p:spTgt spid="3">
                                            <p:txEl>
                                              <p:pRg st="0" end="0"/>
                                            </p:txEl>
                                          </p:spTgt>
                                        </p:tgtEl>
                                      </p:cBhvr>
                                    </p:animEffect>
                                    <p:anim calcmode="lin" valueType="num">
                                      <p:cBhvr>
                                        <p:cTn id="3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1" end="1"/>
                                            </p:txEl>
                                          </p:spTgt>
                                        </p:tgtEl>
                                        <p:attrNameLst>
                                          <p:attrName>style.visibility</p:attrName>
                                        </p:attrNameLst>
                                      </p:cBhvr>
                                      <p:to>
                                        <p:strVal val="visible"/>
                                      </p:to>
                                    </p:set>
                                    <p:animEffect transition="in" filter="fade">
                                      <p:cBhvr>
                                        <p:cTn id="40" dur="1000"/>
                                        <p:tgtEl>
                                          <p:spTgt spid="3">
                                            <p:txEl>
                                              <p:pRg st="1" end="1"/>
                                            </p:txEl>
                                          </p:spTgt>
                                        </p:tgtEl>
                                      </p:cBhvr>
                                    </p:animEffect>
                                    <p:anim calcmode="lin" valueType="num">
                                      <p:cBhvr>
                                        <p:cTn id="4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1000"/>
                                        <p:tgtEl>
                                          <p:spTgt spid="3">
                                            <p:txEl>
                                              <p:pRg st="2" end="2"/>
                                            </p:txEl>
                                          </p:spTgt>
                                        </p:tgtEl>
                                      </p:cBhvr>
                                    </p:animEffect>
                                    <p:anim calcmode="lin" valueType="num">
                                      <p:cBhvr>
                                        <p:cTn id="4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animEffect transition="in" filter="fade">
                                      <p:cBhvr>
                                        <p:cTn id="54" dur="1000"/>
                                        <p:tgtEl>
                                          <p:spTgt spid="3">
                                            <p:txEl>
                                              <p:pRg st="3" end="3"/>
                                            </p:txEl>
                                          </p:spTgt>
                                        </p:tgtEl>
                                      </p:cBhvr>
                                    </p:animEffect>
                                    <p:anim calcmode="lin" valueType="num">
                                      <p:cBhvr>
                                        <p:cTn id="5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animEffect transition="in" filter="fade">
                                      <p:cBhvr>
                                        <p:cTn id="61" dur="1000"/>
                                        <p:tgtEl>
                                          <p:spTgt spid="3">
                                            <p:txEl>
                                              <p:pRg st="4" end="4"/>
                                            </p:txEl>
                                          </p:spTgt>
                                        </p:tgtEl>
                                      </p:cBhvr>
                                    </p:animEffect>
                                    <p:anim calcmode="lin" valueType="num">
                                      <p:cBhvr>
                                        <p:cTn id="6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uiExpand="1" build="p" animBg="1">
        <p:tmplLst>
          <p:tmpl>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8" grpId="0"/>
    </p:bldLst>
  </p:timing>
  <p:txStyles>
    <p:titleStyle>
      <a:lvl1pPr algn="l" defTabSz="914400" rtl="0" eaLnBrk="1" latinLnBrk="0" hangingPunct="1">
        <a:lnSpc>
          <a:spcPct val="90000"/>
        </a:lnSpc>
        <a:spcBef>
          <a:spcPct val="0"/>
        </a:spcBef>
        <a:buNone/>
        <a:defRPr sz="4400" b="1" kern="1200">
          <a:solidFill>
            <a:schemeClr val="bg1"/>
          </a:solidFill>
          <a:latin typeface="Quicksand" pitchFamily="2" charset="0"/>
          <a:ea typeface="+mj-ea"/>
          <a:cs typeface="+mj-cs"/>
        </a:defRPr>
      </a:lvl1pPr>
    </p:titleStyle>
    <p:bodyStyle>
      <a:lvl1pPr marL="801688" indent="-228600" algn="l" defTabSz="914400" rtl="0" eaLnBrk="1" latinLnBrk="0" hangingPunct="1">
        <a:lnSpc>
          <a:spcPct val="150000"/>
        </a:lnSpc>
        <a:spcBef>
          <a:spcPts val="1000"/>
        </a:spcBef>
        <a:buClr>
          <a:srgbClr val="204ECF"/>
        </a:buClr>
        <a:buFontTx/>
        <a:buChar char="●"/>
        <a:tabLst>
          <a:tab pos="361950" algn="l"/>
          <a:tab pos="449263" algn="l"/>
        </a:tabLst>
        <a:defRPr sz="2000" b="1" kern="1200">
          <a:solidFill>
            <a:schemeClr val="tx1"/>
          </a:solidFill>
          <a:latin typeface="Quicksand" pitchFamily="2" charset="0"/>
          <a:ea typeface="+mn-ea"/>
          <a:cs typeface="+mn-cs"/>
        </a:defRPr>
      </a:lvl1pPr>
      <a:lvl2pPr marL="1258888"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2pPr>
      <a:lvl3pPr marL="1614488"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3pPr>
      <a:lvl4pPr marL="1884363"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4pPr>
      <a:lvl5pPr marL="2155825"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solidFill>
                  <a:schemeClr val="tx1"/>
                </a:solidFill>
              </a:rPr>
              <a:t>ReactJS Fundamentals</a:t>
            </a:r>
          </a:p>
        </p:txBody>
      </p:sp>
      <p:sp>
        <p:nvSpPr>
          <p:cNvPr id="3" name="Subtitle 2"/>
          <p:cNvSpPr>
            <a:spLocks noGrp="1"/>
          </p:cNvSpPr>
          <p:nvPr>
            <p:ph type="subTitle" idx="1"/>
          </p:nvPr>
        </p:nvSpPr>
        <p:spPr/>
        <p:txBody>
          <a:bodyPr/>
          <a:lstStyle/>
          <a:p>
            <a:r>
              <a:rPr lang="en-IN" dirty="0"/>
              <a:t>JavaScript library</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ReactJS?</a:t>
            </a:r>
          </a:p>
        </p:txBody>
      </p:sp>
      <p:sp>
        <p:nvSpPr>
          <p:cNvPr id="3" name="Content Placeholder 2"/>
          <p:cNvSpPr>
            <a:spLocks noGrp="1"/>
          </p:cNvSpPr>
          <p:nvPr>
            <p:ph idx="1"/>
          </p:nvPr>
        </p:nvSpPr>
        <p:spPr/>
        <p:txBody>
          <a:bodyPr/>
          <a:lstStyle/>
          <a:p>
            <a:pPr>
              <a:defRPr sz="2000"/>
            </a:pPr>
            <a:r>
              <a:rPr dirty="0"/>
              <a:t>ReactJS is a </a:t>
            </a:r>
            <a:r>
              <a:rPr u="sng" dirty="0"/>
              <a:t>JavaScript library </a:t>
            </a:r>
            <a:r>
              <a:rPr dirty="0"/>
              <a:t>for building user interfaces, especially </a:t>
            </a:r>
            <a:br>
              <a:rPr lang="en-US" dirty="0"/>
            </a:br>
            <a:r>
              <a:rPr dirty="0"/>
              <a:t>for web apps where the screen changes often. </a:t>
            </a:r>
            <a:endParaRPr lang="en-US" dirty="0"/>
          </a:p>
          <a:p>
            <a:pPr>
              <a:defRPr sz="2000"/>
            </a:pPr>
            <a:r>
              <a:rPr dirty="0"/>
              <a:t>It helps you build pages as small reusable pieces called components, </a:t>
            </a:r>
            <a:br>
              <a:rPr lang="en-US" dirty="0"/>
            </a:br>
            <a:r>
              <a:rPr dirty="0"/>
              <a:t>instead of writing one huge block of HTML and JavaScript.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Basics</a:t>
            </a:r>
          </a:p>
        </p:txBody>
      </p:sp>
      <p:sp>
        <p:nvSpPr>
          <p:cNvPr id="3" name="Content Placeholder 2"/>
          <p:cNvSpPr>
            <a:spLocks noGrp="1"/>
          </p:cNvSpPr>
          <p:nvPr>
            <p:ph idx="1"/>
          </p:nvPr>
        </p:nvSpPr>
        <p:spPr/>
        <p:txBody>
          <a:bodyPr>
            <a:normAutofit fontScale="92500" lnSpcReduction="10000"/>
          </a:bodyPr>
          <a:lstStyle/>
          <a:p>
            <a:pPr>
              <a:defRPr sz="2000"/>
            </a:pPr>
            <a:r>
              <a:rPr dirty="0"/>
              <a:t>At its core, React lets you:</a:t>
            </a:r>
          </a:p>
          <a:p>
            <a:pPr lvl="1">
              <a:defRPr sz="2000"/>
            </a:pPr>
            <a:r>
              <a:rPr dirty="0"/>
              <a:t>Build UI with components.</a:t>
            </a:r>
          </a:p>
          <a:p>
            <a:pPr lvl="1">
              <a:defRPr sz="2000"/>
            </a:pPr>
            <a:r>
              <a:rPr dirty="0"/>
              <a:t>Reuse code across the app.</a:t>
            </a:r>
          </a:p>
          <a:p>
            <a:pPr lvl="1">
              <a:defRPr sz="2000"/>
            </a:pPr>
            <a:r>
              <a:rPr dirty="0"/>
              <a:t>Update only the parts of the page that change.</a:t>
            </a:r>
          </a:p>
          <a:p>
            <a:pPr lvl="1">
              <a:defRPr sz="2000"/>
            </a:pPr>
            <a:r>
              <a:rPr dirty="0"/>
              <a:t>Keep UI logic organized and easier to maintain.</a:t>
            </a:r>
          </a:p>
          <a:p>
            <a:pPr>
              <a:defRPr sz="2000"/>
            </a:pPr>
            <a:r>
              <a:rPr dirty="0"/>
              <a:t>React follows a declarative style, meaning you describe what the UI should look like for a given state, and React handles updating the screen. </a:t>
            </a:r>
            <a:endParaRPr lang="en-US" dirty="0"/>
          </a:p>
          <a:p>
            <a:pPr>
              <a:defRPr sz="2000"/>
            </a:pPr>
            <a:r>
              <a:rPr dirty="0"/>
              <a:t>It is widely used for dynamic apps because it is component-based and uses a virtual DOM approach to update efficiently.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use React?</a:t>
            </a:r>
          </a:p>
        </p:txBody>
      </p:sp>
      <p:sp>
        <p:nvSpPr>
          <p:cNvPr id="3" name="Content Placeholder 2"/>
          <p:cNvSpPr>
            <a:spLocks noGrp="1"/>
          </p:cNvSpPr>
          <p:nvPr>
            <p:ph idx="1"/>
          </p:nvPr>
        </p:nvSpPr>
        <p:spPr/>
        <p:txBody>
          <a:bodyPr>
            <a:normAutofit/>
          </a:bodyPr>
          <a:lstStyle/>
          <a:p>
            <a:pPr>
              <a:defRPr sz="2000"/>
            </a:pPr>
            <a:r>
              <a:rPr dirty="0"/>
              <a:t>React is useful when your app has:</a:t>
            </a:r>
          </a:p>
          <a:p>
            <a:pPr lvl="1">
              <a:defRPr sz="2000"/>
            </a:pPr>
            <a:r>
              <a:rPr dirty="0"/>
              <a:t>Many changing screens or sections.</a:t>
            </a:r>
          </a:p>
          <a:p>
            <a:pPr lvl="1">
              <a:defRPr sz="2000"/>
            </a:pPr>
            <a:r>
              <a:rPr dirty="0"/>
              <a:t>Repeated UI patterns like cards, buttons, forms, lists.</a:t>
            </a:r>
          </a:p>
          <a:p>
            <a:pPr lvl="1">
              <a:defRPr sz="2000"/>
            </a:pPr>
            <a:r>
              <a:rPr dirty="0"/>
              <a:t>Data that changes over time, such as chats, dashboards, feeds, or carts.</a:t>
            </a:r>
          </a:p>
          <a:p>
            <a:pPr lvl="1">
              <a:defRPr sz="2000"/>
            </a:pPr>
            <a:r>
              <a:rPr dirty="0"/>
              <a:t>A need for maintainable and scalable code.</a:t>
            </a:r>
          </a:p>
          <a:p>
            <a:pPr>
              <a:defRPr sz="2000"/>
            </a:pPr>
            <a:r>
              <a:rPr dirty="0"/>
              <a:t>Instead of manually changing the DOM everywhere, React lets you structure the UI into reusable components and update the interface based on state changes.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problem it solves</a:t>
            </a:r>
          </a:p>
        </p:txBody>
      </p:sp>
      <p:sp>
        <p:nvSpPr>
          <p:cNvPr id="3" name="Content Placeholder 2"/>
          <p:cNvSpPr>
            <a:spLocks noGrp="1"/>
          </p:cNvSpPr>
          <p:nvPr>
            <p:ph idx="1"/>
          </p:nvPr>
        </p:nvSpPr>
        <p:spPr/>
        <p:txBody>
          <a:bodyPr>
            <a:normAutofit fontScale="92500" lnSpcReduction="10000"/>
          </a:bodyPr>
          <a:lstStyle/>
          <a:p>
            <a:pPr>
              <a:defRPr sz="2000"/>
            </a:pPr>
            <a:r>
              <a:rPr dirty="0"/>
              <a:t>Before React, building interactive UIs often meant lots of direct DOM manipulation. That becomes messy as apps grow:</a:t>
            </a:r>
          </a:p>
          <a:p>
            <a:pPr lvl="1">
              <a:defRPr sz="2000"/>
            </a:pPr>
            <a:r>
              <a:rPr dirty="0"/>
              <a:t>Code gets hard to organize.</a:t>
            </a:r>
          </a:p>
          <a:p>
            <a:pPr lvl="1">
              <a:defRPr sz="2000"/>
            </a:pPr>
            <a:r>
              <a:rPr dirty="0"/>
              <a:t>Repeated UI logic is duplicated.</a:t>
            </a:r>
          </a:p>
          <a:p>
            <a:pPr lvl="1">
              <a:defRPr sz="2000"/>
            </a:pPr>
            <a:r>
              <a:rPr dirty="0"/>
              <a:t>Updating one part of the page can affect others.</a:t>
            </a:r>
          </a:p>
          <a:p>
            <a:pPr lvl="1">
              <a:defRPr sz="2000"/>
            </a:pPr>
            <a:r>
              <a:rPr dirty="0"/>
              <a:t>Managing changing data and screen updates becomes harder.</a:t>
            </a:r>
          </a:p>
          <a:p>
            <a:pPr>
              <a:defRPr sz="2000"/>
            </a:pPr>
            <a:r>
              <a:rPr dirty="0"/>
              <a:t>React solves this by giving you a cleaner way to build dynamic interfaces. </a:t>
            </a:r>
            <a:endParaRPr lang="en-US" dirty="0"/>
          </a:p>
          <a:p>
            <a:pPr>
              <a:defRPr sz="2000"/>
            </a:pPr>
            <a:r>
              <a:rPr dirty="0"/>
              <a:t>You describe the UI as components and let React manage the updates efficiently using its rendering approach.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so popular</a:t>
            </a:r>
          </a:p>
        </p:txBody>
      </p:sp>
      <p:sp>
        <p:nvSpPr>
          <p:cNvPr id="3" name="Content Placeholder 2"/>
          <p:cNvSpPr>
            <a:spLocks noGrp="1"/>
          </p:cNvSpPr>
          <p:nvPr>
            <p:ph idx="1"/>
          </p:nvPr>
        </p:nvSpPr>
        <p:spPr/>
        <p:txBody>
          <a:bodyPr/>
          <a:lstStyle/>
          <a:p>
            <a:pPr>
              <a:defRPr sz="2000"/>
            </a:pPr>
            <a:r>
              <a:rPr dirty="0"/>
              <a:t>React became popular because it is:</a:t>
            </a:r>
          </a:p>
          <a:p>
            <a:pPr lvl="1">
              <a:defRPr sz="2000"/>
            </a:pPr>
            <a:r>
              <a:rPr dirty="0"/>
              <a:t>Easy to start with if you already know JavaScript.</a:t>
            </a:r>
          </a:p>
          <a:p>
            <a:pPr lvl="1">
              <a:defRPr sz="2000"/>
            </a:pPr>
            <a:r>
              <a:rPr dirty="0"/>
              <a:t>Component-based, which makes code reusable.</a:t>
            </a:r>
          </a:p>
          <a:p>
            <a:pPr lvl="1">
              <a:defRPr sz="2000"/>
            </a:pPr>
            <a:r>
              <a:rPr dirty="0"/>
              <a:t>Efficient, thanks to its update model.</a:t>
            </a:r>
          </a:p>
          <a:p>
            <a:pPr lvl="1">
              <a:defRPr sz="2000"/>
            </a:pPr>
            <a:r>
              <a:rPr dirty="0"/>
              <a:t>Flexible, so it fits many kinds of projects.</a:t>
            </a:r>
          </a:p>
          <a:p>
            <a:pPr lvl="1">
              <a:defRPr sz="2000"/>
            </a:pPr>
            <a:r>
              <a:rPr dirty="0"/>
              <a:t>Supported by a large community, ecosystem, and many learning resources.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so popular</a:t>
            </a:r>
          </a:p>
        </p:txBody>
      </p:sp>
      <p:sp>
        <p:nvSpPr>
          <p:cNvPr id="3" name="Content Placeholder 2"/>
          <p:cNvSpPr>
            <a:spLocks noGrp="1"/>
          </p:cNvSpPr>
          <p:nvPr>
            <p:ph idx="1"/>
          </p:nvPr>
        </p:nvSpPr>
        <p:spPr/>
        <p:txBody>
          <a:bodyPr/>
          <a:lstStyle/>
          <a:p>
            <a:pPr>
              <a:defRPr sz="2000"/>
            </a:pPr>
            <a:r>
              <a:rPr dirty="0"/>
              <a:t>Widely used in industry, so it is valuable for jobs and team projects.</a:t>
            </a:r>
          </a:p>
          <a:p>
            <a:pPr>
              <a:defRPr sz="2000"/>
            </a:pPr>
            <a:r>
              <a:rPr dirty="0"/>
              <a:t>Another major reason is that React fits modern frontend development well: it works nicely for dynamic apps, supports strong tooling, and has an ecosystem that makes routing, state management, and app structure easier to handle.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158FD-7F48-4893-A486-BF7EE72254B6}"/>
              </a:ext>
            </a:extLst>
          </p:cNvPr>
          <p:cNvSpPr>
            <a:spLocks noGrp="1"/>
          </p:cNvSpPr>
          <p:nvPr>
            <p:ph type="title"/>
          </p:nvPr>
        </p:nvSpPr>
        <p:spPr/>
        <p:txBody>
          <a:bodyPr/>
          <a:lstStyle/>
          <a:p>
            <a:r>
              <a:rPr lang="en-IN" dirty="0"/>
              <a:t>Virtual DOM</a:t>
            </a:r>
          </a:p>
        </p:txBody>
      </p:sp>
      <p:sp>
        <p:nvSpPr>
          <p:cNvPr id="3" name="Content Placeholder 2">
            <a:extLst>
              <a:ext uri="{FF2B5EF4-FFF2-40B4-BE49-F238E27FC236}">
                <a16:creationId xmlns:a16="http://schemas.microsoft.com/office/drawing/2014/main" id="{C05ABCD6-D5A4-46F7-D28A-D3D0D5B66AD9}"/>
              </a:ext>
            </a:extLst>
          </p:cNvPr>
          <p:cNvSpPr>
            <a:spLocks noGrp="1"/>
          </p:cNvSpPr>
          <p:nvPr>
            <p:ph idx="1"/>
          </p:nvPr>
        </p:nvSpPr>
        <p:spPr/>
        <p:txBody>
          <a:bodyPr/>
          <a:lstStyle/>
          <a:p>
            <a:r>
              <a:rPr lang="en-IN" dirty="0"/>
              <a:t>The Virtual DOM is a lightweight, in-memory representation of the real browser DOM. React uses it to figure out what changed in your UI and then updates only the necessary parts of the real DOM.</a:t>
            </a:r>
          </a:p>
          <a:p>
            <a:r>
              <a:rPr lang="en-IN" dirty="0"/>
              <a:t>What it means</a:t>
            </a:r>
          </a:p>
          <a:p>
            <a:r>
              <a:rPr lang="en-IN" dirty="0"/>
              <a:t>When your React app renders, React creates a virtual version of the UI as JavaScript objects. This lets React compare the new UI with the previous one before changing the browser screen.</a:t>
            </a:r>
          </a:p>
        </p:txBody>
      </p:sp>
    </p:spTree>
    <p:extLst>
      <p:ext uri="{BB962C8B-B14F-4D97-AF65-F5344CB8AC3E}">
        <p14:creationId xmlns:p14="http://schemas.microsoft.com/office/powerpoint/2010/main" val="1920548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DAB61-851E-A86F-D71D-3A15ED6C5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C7797-7880-9872-55D2-DCCED9A52DE8}"/>
              </a:ext>
            </a:extLst>
          </p:cNvPr>
          <p:cNvSpPr>
            <a:spLocks noGrp="1"/>
          </p:cNvSpPr>
          <p:nvPr>
            <p:ph type="title"/>
          </p:nvPr>
        </p:nvSpPr>
        <p:spPr/>
        <p:txBody>
          <a:bodyPr/>
          <a:lstStyle/>
          <a:p>
            <a:r>
              <a:rPr lang="en-IN" dirty="0"/>
              <a:t>Virtual DOM</a:t>
            </a:r>
          </a:p>
        </p:txBody>
      </p:sp>
      <p:sp>
        <p:nvSpPr>
          <p:cNvPr id="3" name="Content Placeholder 2">
            <a:extLst>
              <a:ext uri="{FF2B5EF4-FFF2-40B4-BE49-F238E27FC236}">
                <a16:creationId xmlns:a16="http://schemas.microsoft.com/office/drawing/2014/main" id="{84E840F3-9A6C-904A-9D69-44BA9CBAFC6C}"/>
              </a:ext>
            </a:extLst>
          </p:cNvPr>
          <p:cNvSpPr>
            <a:spLocks noGrp="1"/>
          </p:cNvSpPr>
          <p:nvPr>
            <p:ph idx="1"/>
          </p:nvPr>
        </p:nvSpPr>
        <p:spPr/>
        <p:txBody>
          <a:bodyPr>
            <a:normAutofit/>
          </a:bodyPr>
          <a:lstStyle/>
          <a:p>
            <a:pPr lvl="0"/>
            <a:r>
              <a:rPr lang="en-IN" dirty="0"/>
              <a:t>Real DOM = the actual page in the browser.</a:t>
            </a:r>
          </a:p>
          <a:p>
            <a:pPr lvl="0"/>
            <a:r>
              <a:rPr lang="en-IN" dirty="0"/>
              <a:t>Virtual DOM = </a:t>
            </a:r>
            <a:r>
              <a:rPr lang="en-IN" dirty="0" err="1"/>
              <a:t>React’s</a:t>
            </a:r>
            <a:r>
              <a:rPr lang="en-IN" dirty="0"/>
              <a:t> internal copy/blueprint of the UI. </a:t>
            </a:r>
          </a:p>
          <a:p>
            <a:r>
              <a:rPr lang="en-IN" dirty="0"/>
              <a:t>Why React uses it</a:t>
            </a:r>
          </a:p>
          <a:p>
            <a:r>
              <a:rPr lang="en-IN" dirty="0"/>
              <a:t>Directly updating the real DOM can be slower, especially when many changes happen. React uses the Virtual DOM to make updates more efficient by minimizing unnecessary DOM work.</a:t>
            </a:r>
          </a:p>
          <a:p>
            <a:r>
              <a:rPr lang="en-IN" dirty="0"/>
              <a:t>This helps React apps feel faster and more responsive, especially when the UI changes often. </a:t>
            </a:r>
          </a:p>
        </p:txBody>
      </p:sp>
    </p:spTree>
    <p:extLst>
      <p:ext uri="{BB962C8B-B14F-4D97-AF65-F5344CB8AC3E}">
        <p14:creationId xmlns:p14="http://schemas.microsoft.com/office/powerpoint/2010/main" val="2355979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80CB4-C546-A484-505A-04D7B5FFF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BB734-409B-750B-F468-ED5D9B9AFD91}"/>
              </a:ext>
            </a:extLst>
          </p:cNvPr>
          <p:cNvSpPr>
            <a:spLocks noGrp="1"/>
          </p:cNvSpPr>
          <p:nvPr>
            <p:ph type="title"/>
          </p:nvPr>
        </p:nvSpPr>
        <p:spPr/>
        <p:txBody>
          <a:bodyPr/>
          <a:lstStyle/>
          <a:p>
            <a:r>
              <a:rPr lang="en-IN" dirty="0"/>
              <a:t>Virtual DOM </a:t>
            </a:r>
            <a:r>
              <a:rPr lang="en-IN" sz="3600" dirty="0"/>
              <a:t>How it works</a:t>
            </a:r>
            <a:endParaRPr lang="en-IN" dirty="0"/>
          </a:p>
        </p:txBody>
      </p:sp>
      <p:sp>
        <p:nvSpPr>
          <p:cNvPr id="3" name="Content Placeholder 2">
            <a:extLst>
              <a:ext uri="{FF2B5EF4-FFF2-40B4-BE49-F238E27FC236}">
                <a16:creationId xmlns:a16="http://schemas.microsoft.com/office/drawing/2014/main" id="{1DAA3740-174E-C8A7-7DA0-EF0B77DA82F9}"/>
              </a:ext>
            </a:extLst>
          </p:cNvPr>
          <p:cNvSpPr>
            <a:spLocks noGrp="1"/>
          </p:cNvSpPr>
          <p:nvPr>
            <p:ph idx="1"/>
          </p:nvPr>
        </p:nvSpPr>
        <p:spPr/>
        <p:txBody>
          <a:bodyPr>
            <a:normAutofit/>
          </a:bodyPr>
          <a:lstStyle/>
          <a:p>
            <a:r>
              <a:rPr lang="en-IN" dirty="0"/>
              <a:t>The basic flow is:</a:t>
            </a:r>
          </a:p>
          <a:p>
            <a:pPr marL="1487488" lvl="1" indent="-457200">
              <a:buFont typeface="+mj-lt"/>
              <a:buAutoNum type="arabicPeriod"/>
            </a:pPr>
            <a:r>
              <a:rPr lang="en-IN" dirty="0"/>
              <a:t>React renders your component into the Virtual DOM.</a:t>
            </a:r>
          </a:p>
          <a:p>
            <a:pPr marL="1487488" lvl="1" indent="-457200">
              <a:buFont typeface="+mj-lt"/>
              <a:buAutoNum type="arabicPeriod"/>
            </a:pPr>
            <a:r>
              <a:rPr lang="en-IN" dirty="0"/>
              <a:t>When state or props change, React creates a new Virtual DOM snapshot.</a:t>
            </a:r>
          </a:p>
          <a:p>
            <a:pPr marL="1487488" lvl="1" indent="-457200">
              <a:buFont typeface="+mj-lt"/>
              <a:buAutoNum type="arabicPeriod"/>
            </a:pPr>
            <a:r>
              <a:rPr lang="en-IN" dirty="0"/>
              <a:t>React compares the new snapshot with the previous one.</a:t>
            </a:r>
          </a:p>
          <a:p>
            <a:pPr marL="1487488" lvl="1" indent="-457200">
              <a:buFont typeface="+mj-lt"/>
              <a:buAutoNum type="arabicPeriod"/>
            </a:pPr>
            <a:r>
              <a:rPr lang="en-IN" dirty="0"/>
              <a:t>It finds only the changed parts.</a:t>
            </a:r>
          </a:p>
          <a:p>
            <a:pPr marL="1487488" lvl="1" indent="-457200">
              <a:buFont typeface="+mj-lt"/>
              <a:buAutoNum type="arabicPeriod"/>
            </a:pPr>
            <a:r>
              <a:rPr lang="en-IN" dirty="0"/>
              <a:t>React updates only those parts in the real DOM. </a:t>
            </a:r>
          </a:p>
          <a:p>
            <a:r>
              <a:rPr lang="en-IN" dirty="0"/>
              <a:t>This comparison process is often called </a:t>
            </a:r>
            <a:r>
              <a:rPr lang="en-IN" u="sng" dirty="0"/>
              <a:t>diffing</a:t>
            </a:r>
            <a:r>
              <a:rPr lang="en-IN" dirty="0"/>
              <a:t>, and the overall update process is called </a:t>
            </a:r>
            <a:r>
              <a:rPr lang="en-IN" u="sng" dirty="0"/>
              <a:t>reconciliation</a:t>
            </a:r>
            <a:r>
              <a:rPr lang="en-IN" dirty="0"/>
              <a:t>. </a:t>
            </a:r>
          </a:p>
        </p:txBody>
      </p:sp>
    </p:spTree>
    <p:extLst>
      <p:ext uri="{BB962C8B-B14F-4D97-AF65-F5344CB8AC3E}">
        <p14:creationId xmlns:p14="http://schemas.microsoft.com/office/powerpoint/2010/main" val="36721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JavaScript vs ReactJS</a:t>
            </a:r>
          </a:p>
        </p:txBody>
      </p:sp>
      <p:sp>
        <p:nvSpPr>
          <p:cNvPr id="3" name="Content Placeholder 2"/>
          <p:cNvSpPr>
            <a:spLocks noGrp="1"/>
          </p:cNvSpPr>
          <p:nvPr>
            <p:ph idx="1"/>
          </p:nvPr>
        </p:nvSpPr>
        <p:spPr/>
        <p:txBody>
          <a:bodyPr/>
          <a:lstStyle/>
          <a:p>
            <a:pPr>
              <a:defRPr sz="2000"/>
            </a:pPr>
            <a:r>
              <a:rPr dirty="0"/>
              <a:t>JavaScript and ReactJS are related, but they are not the same thing. JavaScript is the core programming language</a:t>
            </a:r>
            <a:r>
              <a:rPr lang="en-US" dirty="0"/>
              <a:t>.</a:t>
            </a:r>
          </a:p>
          <a:p>
            <a:pPr>
              <a:defRPr sz="2000"/>
            </a:pPr>
            <a:r>
              <a:rPr dirty="0"/>
              <a:t>while ReactJS is a </a:t>
            </a:r>
            <a:r>
              <a:rPr u="sng" dirty="0"/>
              <a:t>library</a:t>
            </a:r>
            <a:r>
              <a:rPr dirty="0"/>
              <a:t> built on top of JavaScript for building user interfaces, especially dynamic ones.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difference</a:t>
            </a:r>
          </a:p>
        </p:txBody>
      </p:sp>
      <p:sp>
        <p:nvSpPr>
          <p:cNvPr id="3" name="Content Placeholder 2"/>
          <p:cNvSpPr>
            <a:spLocks noGrp="1"/>
          </p:cNvSpPr>
          <p:nvPr>
            <p:ph idx="1"/>
          </p:nvPr>
        </p:nvSpPr>
        <p:spPr/>
        <p:txBody>
          <a:bodyPr/>
          <a:lstStyle/>
          <a:p>
            <a:pPr>
              <a:defRPr sz="2000"/>
            </a:pPr>
            <a:r>
              <a:t>JavaScript: A general-purpose programming language used to add logic, behavior, and interactivity to websites.</a:t>
            </a:r>
          </a:p>
          <a:p>
            <a:pPr>
              <a:defRPr sz="2000"/>
            </a:pPr>
            <a:r>
              <a:t>ReactJS: A JavaScript library focused on building UI in a structured, reusable, component-based way.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one does</a:t>
            </a:r>
          </a:p>
        </p:txBody>
      </p:sp>
      <p:sp>
        <p:nvSpPr>
          <p:cNvPr id="3" name="Content Placeholder 2"/>
          <p:cNvSpPr>
            <a:spLocks noGrp="1"/>
          </p:cNvSpPr>
          <p:nvPr>
            <p:ph idx="1"/>
          </p:nvPr>
        </p:nvSpPr>
        <p:spPr/>
        <p:txBody>
          <a:bodyPr/>
          <a:lstStyle/>
          <a:p>
            <a:pPr>
              <a:defRPr sz="2000"/>
            </a:pPr>
            <a:r>
              <a:rPr dirty="0"/>
              <a:t>JavaScript can handle:</a:t>
            </a:r>
          </a:p>
          <a:p>
            <a:pPr lvl="1">
              <a:defRPr sz="2000"/>
            </a:pPr>
            <a:r>
              <a:rPr dirty="0"/>
              <a:t>Variables, functions, loops, and conditions.</a:t>
            </a:r>
          </a:p>
          <a:p>
            <a:pPr lvl="1">
              <a:defRPr sz="2000"/>
            </a:pPr>
            <a:r>
              <a:rPr dirty="0"/>
              <a:t>DOM manipulation.</a:t>
            </a:r>
          </a:p>
          <a:p>
            <a:pPr lvl="1">
              <a:defRPr sz="2000"/>
            </a:pPr>
            <a:r>
              <a:rPr dirty="0"/>
              <a:t>Event handling.</a:t>
            </a:r>
          </a:p>
          <a:p>
            <a:pPr lvl="1">
              <a:defRPr sz="2000"/>
            </a:pPr>
            <a:r>
              <a:rPr dirty="0"/>
              <a:t>Data processing and logic.</a:t>
            </a:r>
          </a:p>
          <a:p>
            <a:pPr>
              <a:defRPr sz="2000"/>
            </a:pPr>
            <a:r>
              <a:rPr dirty="0"/>
              <a:t>const button = </a:t>
            </a:r>
            <a:r>
              <a:rPr dirty="0" err="1"/>
              <a:t>document.querySelector</a:t>
            </a:r>
            <a:r>
              <a:rPr dirty="0"/>
              <a:t>("#</a:t>
            </a:r>
            <a:r>
              <a:rPr dirty="0" err="1"/>
              <a:t>btn</a:t>
            </a:r>
            <a:r>
              <a:rPr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one does</a:t>
            </a:r>
          </a:p>
        </p:txBody>
      </p:sp>
      <p:sp>
        <p:nvSpPr>
          <p:cNvPr id="3" name="Content Placeholder 2"/>
          <p:cNvSpPr>
            <a:spLocks noGrp="1"/>
          </p:cNvSpPr>
          <p:nvPr>
            <p:ph idx="1"/>
          </p:nvPr>
        </p:nvSpPr>
        <p:spPr/>
        <p:txBody>
          <a:bodyPr/>
          <a:lstStyle/>
          <a:p>
            <a:pPr>
              <a:defRPr sz="2000"/>
            </a:pPr>
            <a:r>
              <a:t>button.addEventListener("click", () =&gt; {</a:t>
            </a:r>
          </a:p>
          <a:p>
            <a:pPr>
              <a:defRPr sz="2000"/>
            </a:pPr>
            <a:r>
              <a:t>document.querySelector("#msg").textContent = "Clicked!";</a:t>
            </a:r>
          </a:p>
          <a:p>
            <a:pPr>
              <a:defRPr sz="2000"/>
            </a:pPr>
            <a:r>
              <a:t>});</a:t>
            </a:r>
          </a:p>
          <a:p>
            <a:pPr>
              <a:defRPr sz="2000"/>
            </a:pPr>
            <a:r>
              <a:t>ReactJS</a:t>
            </a:r>
          </a:p>
          <a:p>
            <a:pPr>
              <a:defRPr sz="2000"/>
            </a:pPr>
            <a:r>
              <a:t>React helps you build:</a:t>
            </a:r>
          </a:p>
          <a:p>
            <a:pPr>
              <a:defRPr sz="2000"/>
            </a:pPr>
            <a:r>
              <a:t>Reusable UI components.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one does</a:t>
            </a:r>
          </a:p>
        </p:txBody>
      </p:sp>
      <p:sp>
        <p:nvSpPr>
          <p:cNvPr id="3" name="Content Placeholder 2"/>
          <p:cNvSpPr>
            <a:spLocks noGrp="1"/>
          </p:cNvSpPr>
          <p:nvPr>
            <p:ph idx="1"/>
          </p:nvPr>
        </p:nvSpPr>
        <p:spPr/>
        <p:txBody>
          <a:bodyPr/>
          <a:lstStyle/>
          <a:p>
            <a:pPr>
              <a:defRPr sz="2000"/>
            </a:pPr>
            <a:r>
              <a:t>Dynamic user interfaces.</a:t>
            </a:r>
          </a:p>
          <a:p>
            <a:pPr>
              <a:defRPr sz="2000"/>
            </a:pPr>
            <a:r>
              <a:t>Efficient screen updates.</a:t>
            </a:r>
          </a:p>
          <a:p>
            <a:pPr>
              <a:defRPr sz="2000"/>
            </a:pPr>
            <a:r>
              <a:t>Large applications with cleaner structure.</a:t>
            </a:r>
          </a:p>
          <a:p>
            <a:pPr>
              <a:defRPr sz="2000"/>
            </a:pPr>
            <a:r>
              <a:t>function Message() {</a:t>
            </a:r>
          </a:p>
          <a:p>
            <a:pPr>
              <a:defRPr sz="2000"/>
            </a:pPr>
            <a:r>
              <a:t>return &lt;h1&gt;Clicked!&lt;/h1&gt;;</a:t>
            </a:r>
          </a:p>
          <a:p>
            <a:pPr>
              <a:defRPr sz="2000"/>
            </a:pPr>
            <a: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Problem React solves over plain JavaScript</a:t>
            </a:r>
          </a:p>
        </p:txBody>
      </p:sp>
      <p:sp>
        <p:nvSpPr>
          <p:cNvPr id="3" name="Content Placeholder 2"/>
          <p:cNvSpPr>
            <a:spLocks noGrp="1"/>
          </p:cNvSpPr>
          <p:nvPr>
            <p:ph idx="1"/>
          </p:nvPr>
        </p:nvSpPr>
        <p:spPr/>
        <p:txBody>
          <a:bodyPr/>
          <a:lstStyle/>
          <a:p>
            <a:pPr>
              <a:defRPr sz="2000"/>
            </a:pPr>
            <a:r>
              <a:rPr dirty="0"/>
              <a:t>With plain JavaScript, as apps grow, you often end up:</a:t>
            </a:r>
          </a:p>
          <a:p>
            <a:pPr lvl="1">
              <a:defRPr sz="2000"/>
            </a:pPr>
            <a:r>
              <a:rPr dirty="0"/>
              <a:t>Writing a lot of repeated DOM code.</a:t>
            </a:r>
          </a:p>
          <a:p>
            <a:pPr lvl="1">
              <a:defRPr sz="2000"/>
            </a:pPr>
            <a:r>
              <a:rPr dirty="0"/>
              <a:t>Manually updating many parts of the page.</a:t>
            </a:r>
          </a:p>
          <a:p>
            <a:pPr lvl="1">
              <a:defRPr sz="2000"/>
            </a:pPr>
            <a:r>
              <a:rPr dirty="0"/>
              <a:t>Managing UI state yourself.</a:t>
            </a:r>
          </a:p>
          <a:p>
            <a:pPr lvl="1">
              <a:defRPr sz="2000"/>
            </a:pPr>
            <a:r>
              <a:rPr dirty="0"/>
              <a:t>Handling complex UI changes in a messy way.</a:t>
            </a:r>
          </a:p>
          <a:p>
            <a:pPr>
              <a:defRPr sz="2000"/>
            </a:pPr>
            <a:r>
              <a:rPr dirty="0"/>
              <a:t>React solves this by letting you describe what the UI should look like for a given state, and it updates the page efficiently for you.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Why React feels easier for bigger apps</a:t>
            </a:r>
          </a:p>
        </p:txBody>
      </p:sp>
      <p:sp>
        <p:nvSpPr>
          <p:cNvPr id="3" name="Content Placeholder 2"/>
          <p:cNvSpPr>
            <a:spLocks noGrp="1"/>
          </p:cNvSpPr>
          <p:nvPr>
            <p:ph idx="1"/>
          </p:nvPr>
        </p:nvSpPr>
        <p:spPr/>
        <p:txBody>
          <a:bodyPr/>
          <a:lstStyle/>
          <a:p>
            <a:pPr>
              <a:defRPr sz="2000"/>
            </a:pPr>
            <a:r>
              <a:rPr dirty="0"/>
              <a:t>React is useful when:</a:t>
            </a:r>
          </a:p>
          <a:p>
            <a:pPr lvl="1">
              <a:defRPr sz="2000"/>
            </a:pPr>
            <a:r>
              <a:rPr dirty="0"/>
              <a:t>The UI changes often.</a:t>
            </a:r>
          </a:p>
          <a:p>
            <a:pPr lvl="1">
              <a:defRPr sz="2000"/>
            </a:pPr>
            <a:r>
              <a:rPr dirty="0"/>
              <a:t>You have many reusable parts.</a:t>
            </a:r>
          </a:p>
          <a:p>
            <a:pPr lvl="1">
              <a:defRPr sz="2000"/>
            </a:pPr>
            <a:r>
              <a:rPr dirty="0"/>
              <a:t>You need to keep code organized.</a:t>
            </a:r>
          </a:p>
          <a:p>
            <a:pPr lvl="1">
              <a:defRPr sz="2000"/>
            </a:pPr>
            <a:r>
              <a:rPr dirty="0"/>
              <a:t>You want a cleaner way to manage app state and rendering.</a:t>
            </a:r>
          </a:p>
          <a:p>
            <a:pPr>
              <a:defRPr sz="2000"/>
            </a:pPr>
            <a:r>
              <a:rPr dirty="0"/>
              <a:t>That is why React is often chosen for dashboards, social apps, e-commerce sites, and other complex interfaces.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Which one should you learn first?</a:t>
            </a:r>
          </a:p>
        </p:txBody>
      </p:sp>
      <p:sp>
        <p:nvSpPr>
          <p:cNvPr id="3" name="Content Placeholder 2"/>
          <p:cNvSpPr>
            <a:spLocks noGrp="1"/>
          </p:cNvSpPr>
          <p:nvPr>
            <p:ph idx="1"/>
          </p:nvPr>
        </p:nvSpPr>
        <p:spPr/>
        <p:txBody>
          <a:bodyPr/>
          <a:lstStyle/>
          <a:p>
            <a:pPr>
              <a:defRPr sz="2000"/>
            </a:pPr>
            <a:r>
              <a:rPr dirty="0"/>
              <a:t>Learn JavaScript first, then ReactJS.</a:t>
            </a:r>
          </a:p>
          <a:p>
            <a:pPr>
              <a:defRPr sz="2000"/>
            </a:pPr>
            <a:r>
              <a:rPr dirty="0"/>
              <a:t>That’s because React is built using JavaScript concepts like:</a:t>
            </a:r>
          </a:p>
          <a:p>
            <a:pPr lvl="1">
              <a:defRPr sz="2000"/>
            </a:pPr>
            <a:r>
              <a:rPr dirty="0"/>
              <a:t>Functions.</a:t>
            </a:r>
          </a:p>
          <a:p>
            <a:pPr lvl="1">
              <a:defRPr sz="2000"/>
            </a:pPr>
            <a:r>
              <a:rPr dirty="0"/>
              <a:t>Arrays and objects.</a:t>
            </a:r>
          </a:p>
          <a:p>
            <a:pPr lvl="1">
              <a:defRPr sz="2000"/>
            </a:pPr>
            <a:r>
              <a:rPr dirty="0"/>
              <a:t>Conditionals.</a:t>
            </a:r>
          </a:p>
          <a:p>
            <a:pPr lvl="1">
              <a:defRPr sz="2000"/>
            </a:pPr>
            <a:r>
              <a:rPr dirty="0"/>
              <a:t>Events.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Which one should you learn first?</a:t>
            </a:r>
          </a:p>
        </p:txBody>
      </p:sp>
      <p:sp>
        <p:nvSpPr>
          <p:cNvPr id="3" name="Content Placeholder 2"/>
          <p:cNvSpPr>
            <a:spLocks noGrp="1"/>
          </p:cNvSpPr>
          <p:nvPr>
            <p:ph idx="1"/>
          </p:nvPr>
        </p:nvSpPr>
        <p:spPr/>
        <p:txBody>
          <a:bodyPr/>
          <a:lstStyle/>
          <a:p>
            <a:pPr lvl="1">
              <a:defRPr sz="2000"/>
            </a:pPr>
            <a:r>
              <a:rPr dirty="0"/>
              <a:t>Async code.</a:t>
            </a:r>
          </a:p>
          <a:p>
            <a:pPr lvl="1">
              <a:defRPr sz="2000"/>
            </a:pPr>
            <a:r>
              <a:rPr dirty="0" err="1"/>
              <a:t>Destructuring</a:t>
            </a:r>
            <a:r>
              <a:rPr dirty="0"/>
              <a:t>.</a:t>
            </a:r>
          </a:p>
          <a:p>
            <a:pPr>
              <a:defRPr sz="2000"/>
            </a:pPr>
            <a:r>
              <a:rPr dirty="0"/>
              <a:t>If JavaScript is weak, React becomes confusing very quickly.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Short conclusion</a:t>
            </a:r>
          </a:p>
        </p:txBody>
      </p:sp>
      <p:sp>
        <p:nvSpPr>
          <p:cNvPr id="3" name="Content Placeholder 2"/>
          <p:cNvSpPr>
            <a:spLocks noGrp="1"/>
          </p:cNvSpPr>
          <p:nvPr>
            <p:ph idx="1"/>
          </p:nvPr>
        </p:nvSpPr>
        <p:spPr/>
        <p:txBody>
          <a:bodyPr/>
          <a:lstStyle/>
          <a:p>
            <a:pPr>
              <a:defRPr sz="2000"/>
            </a:pPr>
            <a:r>
              <a:t>JavaScript is the foundation.</a:t>
            </a:r>
          </a:p>
          <a:p>
            <a:pPr>
              <a:defRPr sz="2000"/>
            </a:pPr>
            <a:r>
              <a:t>ReactJS is a tool built on that foundation to make UI development easier, faster, and more scalable.</a:t>
            </a:r>
          </a:p>
          <a:p>
            <a:pPr>
              <a:defRPr sz="2000"/>
            </a:pPr>
            <a:r>
              <a:t>React does not replace JavaScript; it uses JavaScript to build better user interfaces.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Vite?</a:t>
            </a:r>
          </a:p>
        </p:txBody>
      </p:sp>
      <p:sp>
        <p:nvSpPr>
          <p:cNvPr id="3" name="Content Placeholder 2"/>
          <p:cNvSpPr>
            <a:spLocks noGrp="1"/>
          </p:cNvSpPr>
          <p:nvPr>
            <p:ph idx="1"/>
          </p:nvPr>
        </p:nvSpPr>
        <p:spPr/>
        <p:txBody>
          <a:bodyPr/>
          <a:lstStyle/>
          <a:p>
            <a:pPr>
              <a:defRPr sz="2000"/>
            </a:pPr>
            <a:r>
              <a:rPr dirty="0"/>
              <a:t>Vite is a modern frontend tool used to create and run web </a:t>
            </a:r>
            <a:br>
              <a:rPr lang="en-US" dirty="0"/>
            </a:br>
            <a:r>
              <a:rPr dirty="0"/>
              <a:t>projects quickly. </a:t>
            </a:r>
            <a:endParaRPr lang="en-US" dirty="0"/>
          </a:p>
          <a:p>
            <a:pPr>
              <a:defRPr sz="2000"/>
            </a:pPr>
            <a:r>
              <a:rPr dirty="0"/>
              <a:t>It gives you a fast development server, instant updates while </a:t>
            </a:r>
            <a:br>
              <a:rPr lang="en-US" dirty="0"/>
            </a:br>
            <a:r>
              <a:rPr dirty="0"/>
              <a:t>coding, and a smooth build process for production.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Vite is used</a:t>
            </a:r>
          </a:p>
        </p:txBody>
      </p:sp>
      <p:sp>
        <p:nvSpPr>
          <p:cNvPr id="3" name="Content Placeholder 2"/>
          <p:cNvSpPr>
            <a:spLocks noGrp="1"/>
          </p:cNvSpPr>
          <p:nvPr>
            <p:ph idx="1"/>
          </p:nvPr>
        </p:nvSpPr>
        <p:spPr/>
        <p:txBody>
          <a:bodyPr/>
          <a:lstStyle/>
          <a:p>
            <a:pPr>
              <a:defRPr sz="2000"/>
            </a:pPr>
            <a:r>
              <a:rPr dirty="0"/>
              <a:t>Vite is popular because it makes development faster and simpler:</a:t>
            </a:r>
          </a:p>
          <a:p>
            <a:pPr lvl="1">
              <a:defRPr sz="2000"/>
            </a:pPr>
            <a:r>
              <a:rPr dirty="0"/>
              <a:t>Fast startup time.</a:t>
            </a:r>
          </a:p>
          <a:p>
            <a:pPr lvl="1">
              <a:defRPr sz="2000"/>
            </a:pPr>
            <a:r>
              <a:rPr dirty="0"/>
              <a:t>Very quick hot reloading.</a:t>
            </a:r>
          </a:p>
          <a:p>
            <a:pPr lvl="1">
              <a:defRPr sz="2000"/>
            </a:pPr>
            <a:r>
              <a:rPr dirty="0"/>
              <a:t>Modern support for JavaScript modules.</a:t>
            </a:r>
          </a:p>
          <a:p>
            <a:pPr lvl="1">
              <a:defRPr sz="2000"/>
            </a:pPr>
            <a:r>
              <a:rPr dirty="0"/>
              <a:t>Easy setup for frameworks like React.</a:t>
            </a:r>
          </a:p>
          <a:p>
            <a:pPr>
              <a:defRPr sz="2000"/>
            </a:pPr>
            <a:r>
              <a:rPr dirty="0"/>
              <a:t>In React projects, Vite is often preferred because it feels lighter and faster than older setup tools.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problem Vite solves</a:t>
            </a:r>
          </a:p>
        </p:txBody>
      </p:sp>
      <p:sp>
        <p:nvSpPr>
          <p:cNvPr id="3" name="Content Placeholder 2"/>
          <p:cNvSpPr>
            <a:spLocks noGrp="1"/>
          </p:cNvSpPr>
          <p:nvPr>
            <p:ph idx="1"/>
          </p:nvPr>
        </p:nvSpPr>
        <p:spPr/>
        <p:txBody>
          <a:bodyPr/>
          <a:lstStyle/>
          <a:p>
            <a:pPr>
              <a:defRPr sz="2000"/>
            </a:pPr>
            <a:r>
              <a:rPr dirty="0"/>
              <a:t>Older frontend tooling could be slow to start and slow to refresh when files changed. </a:t>
            </a:r>
            <a:endParaRPr lang="en-US" dirty="0"/>
          </a:p>
          <a:p>
            <a:pPr>
              <a:defRPr sz="2000"/>
            </a:pPr>
            <a:r>
              <a:rPr dirty="0"/>
              <a:t>Vite solves this by using a more modern dev approach, giving developers a quicker feedback loop while building apps.</a:t>
            </a:r>
          </a:p>
          <a:p>
            <a:pPr>
              <a:defRPr sz="2000"/>
            </a:pPr>
            <a:r>
              <a:rPr dirty="0"/>
              <a:t>That means:</a:t>
            </a:r>
          </a:p>
          <a:p>
            <a:pPr lvl="1">
              <a:defRPr sz="2000"/>
            </a:pPr>
            <a:r>
              <a:rPr dirty="0"/>
              <a:t>Less waiting for the app to start.</a:t>
            </a:r>
          </a:p>
          <a:p>
            <a:pPr lvl="1">
              <a:defRPr sz="2000"/>
            </a:pPr>
            <a:r>
              <a:rPr dirty="0"/>
              <a:t>Faster code changes during development.</a:t>
            </a:r>
          </a:p>
          <a:p>
            <a:pPr lvl="1">
              <a:defRPr sz="2000"/>
            </a:pPr>
            <a:r>
              <a:rPr dirty="0"/>
              <a:t>Better developer experience overall.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popular</a:t>
            </a:r>
          </a:p>
        </p:txBody>
      </p:sp>
      <p:sp>
        <p:nvSpPr>
          <p:cNvPr id="3" name="Content Placeholder 2"/>
          <p:cNvSpPr>
            <a:spLocks noGrp="1"/>
          </p:cNvSpPr>
          <p:nvPr>
            <p:ph idx="1"/>
          </p:nvPr>
        </p:nvSpPr>
        <p:spPr/>
        <p:txBody>
          <a:bodyPr/>
          <a:lstStyle/>
          <a:p>
            <a:pPr>
              <a:defRPr sz="2000"/>
            </a:pPr>
            <a:r>
              <a:rPr dirty="0"/>
              <a:t>Vite became popular because it is:</a:t>
            </a:r>
          </a:p>
          <a:p>
            <a:pPr lvl="1">
              <a:defRPr sz="2000"/>
            </a:pPr>
            <a:r>
              <a:rPr dirty="0"/>
              <a:t>Fast.</a:t>
            </a:r>
          </a:p>
          <a:p>
            <a:pPr lvl="1">
              <a:defRPr sz="2000"/>
            </a:pPr>
            <a:r>
              <a:rPr dirty="0"/>
              <a:t>Simple to use.</a:t>
            </a:r>
          </a:p>
          <a:p>
            <a:pPr lvl="1">
              <a:defRPr sz="2000"/>
            </a:pPr>
            <a:r>
              <a:rPr dirty="0"/>
              <a:t>Great for React and other frontend frameworks.</a:t>
            </a:r>
          </a:p>
          <a:p>
            <a:pPr lvl="1">
              <a:defRPr sz="2000"/>
            </a:pPr>
            <a:r>
              <a:rPr dirty="0"/>
              <a:t>Good for both development and production builds.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React project using Vite</a:t>
            </a:r>
          </a:p>
        </p:txBody>
      </p:sp>
      <p:sp>
        <p:nvSpPr>
          <p:cNvPr id="3" name="Content Placeholder 2"/>
          <p:cNvSpPr>
            <a:spLocks noGrp="1"/>
          </p:cNvSpPr>
          <p:nvPr>
            <p:ph idx="1"/>
          </p:nvPr>
        </p:nvSpPr>
        <p:spPr/>
        <p:txBody>
          <a:bodyPr/>
          <a:lstStyle/>
          <a:p>
            <a:pPr marL="573088" indent="0">
              <a:buNone/>
              <a:defRPr sz="2000"/>
            </a:pPr>
            <a:r>
              <a:rPr dirty="0"/>
              <a:t>1. Make sure Node.js is installed</a:t>
            </a:r>
          </a:p>
          <a:p>
            <a:pPr lvl="1">
              <a:defRPr sz="2000"/>
            </a:pPr>
            <a:r>
              <a:rPr dirty="0"/>
              <a:t>Vite needs Node.js and </a:t>
            </a:r>
            <a:r>
              <a:rPr dirty="0" err="1"/>
              <a:t>npm</a:t>
            </a:r>
            <a:r>
              <a:rPr dirty="0"/>
              <a:t> installed on your system before creating a project.</a:t>
            </a:r>
          </a:p>
          <a:p>
            <a:pPr marL="573088" indent="0">
              <a:buNone/>
              <a:defRPr sz="2000"/>
            </a:pPr>
            <a:r>
              <a:rPr dirty="0"/>
              <a:t>2. Create a new project</a:t>
            </a:r>
          </a:p>
          <a:p>
            <a:pPr>
              <a:defRPr sz="2000"/>
            </a:pPr>
            <a:r>
              <a:rPr dirty="0"/>
              <a:t>You can create a React project with Vite using:</a:t>
            </a:r>
          </a:p>
          <a:p>
            <a:pPr lvl="1">
              <a:defRPr sz="2000"/>
            </a:pPr>
            <a:r>
              <a:rPr dirty="0" err="1"/>
              <a:t>npm</a:t>
            </a:r>
            <a:r>
              <a:rPr dirty="0"/>
              <a:t> create </a:t>
            </a:r>
            <a:r>
              <a:rPr dirty="0" err="1"/>
              <a:t>vite@latest</a:t>
            </a:r>
            <a:r>
              <a:rPr dirty="0"/>
              <a:t> my-react-app</a:t>
            </a:r>
          </a:p>
          <a:p>
            <a:pPr>
              <a:defRPr sz="2000"/>
            </a:pPr>
            <a:r>
              <a:rPr dirty="0"/>
              <a:t>You can also use: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React project using Vite</a:t>
            </a:r>
          </a:p>
        </p:txBody>
      </p:sp>
      <p:sp>
        <p:nvSpPr>
          <p:cNvPr id="3" name="Content Placeholder 2"/>
          <p:cNvSpPr>
            <a:spLocks noGrp="1"/>
          </p:cNvSpPr>
          <p:nvPr>
            <p:ph idx="1"/>
          </p:nvPr>
        </p:nvSpPr>
        <p:spPr/>
        <p:txBody>
          <a:bodyPr/>
          <a:lstStyle/>
          <a:p>
            <a:pPr lvl="1">
              <a:defRPr sz="2000"/>
            </a:pPr>
            <a:r>
              <a:rPr dirty="0" err="1"/>
              <a:t>npm</a:t>
            </a:r>
            <a:r>
              <a:rPr dirty="0"/>
              <a:t> create </a:t>
            </a:r>
            <a:r>
              <a:rPr dirty="0" err="1"/>
              <a:t>vite@latest</a:t>
            </a:r>
            <a:r>
              <a:rPr dirty="0"/>
              <a:t> my-react-app ---template react</a:t>
            </a:r>
          </a:p>
          <a:p>
            <a:pPr>
              <a:defRPr sz="2000"/>
            </a:pPr>
            <a:r>
              <a:rPr dirty="0"/>
              <a:t>This creates a new folder for the app and sets up the project structure.</a:t>
            </a:r>
          </a:p>
          <a:p>
            <a:pPr marL="573088" indent="0">
              <a:buNone/>
              <a:defRPr sz="2000"/>
            </a:pPr>
            <a:r>
              <a:rPr dirty="0"/>
              <a:t>3. Choose the framework and variant</a:t>
            </a:r>
          </a:p>
          <a:p>
            <a:pPr>
              <a:defRPr sz="2000"/>
            </a:pPr>
            <a:r>
              <a:rPr dirty="0"/>
              <a:t>During setup, select:</a:t>
            </a:r>
          </a:p>
          <a:p>
            <a:pPr lvl="1">
              <a:defRPr sz="2000"/>
            </a:pPr>
            <a:r>
              <a:rPr dirty="0"/>
              <a:t>React as the framework.</a:t>
            </a:r>
          </a:p>
          <a:p>
            <a:pPr lvl="1">
              <a:defRPr sz="2000"/>
            </a:pPr>
            <a:r>
              <a:rPr dirty="0"/>
              <a:t>JavaScript or TypeScript as the variant.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React project using Vite</a:t>
            </a:r>
          </a:p>
        </p:txBody>
      </p:sp>
      <p:sp>
        <p:nvSpPr>
          <p:cNvPr id="3" name="Content Placeholder 2"/>
          <p:cNvSpPr>
            <a:spLocks noGrp="1"/>
          </p:cNvSpPr>
          <p:nvPr>
            <p:ph idx="1"/>
          </p:nvPr>
        </p:nvSpPr>
        <p:spPr/>
        <p:txBody>
          <a:bodyPr/>
          <a:lstStyle/>
          <a:p>
            <a:pPr marL="573088" indent="0">
              <a:buNone/>
              <a:defRPr sz="2000"/>
            </a:pPr>
            <a:r>
              <a:rPr dirty="0"/>
              <a:t>4. Move into the project folder</a:t>
            </a:r>
          </a:p>
          <a:p>
            <a:pPr lvl="1">
              <a:defRPr sz="2000"/>
            </a:pPr>
            <a:r>
              <a:rPr dirty="0"/>
              <a:t>cd my-react-app</a:t>
            </a:r>
          </a:p>
          <a:p>
            <a:pPr marL="573088" indent="0">
              <a:buNone/>
              <a:defRPr sz="2000"/>
            </a:pPr>
            <a:r>
              <a:rPr dirty="0"/>
              <a:t>5. Install dependencies</a:t>
            </a:r>
          </a:p>
          <a:p>
            <a:pPr lvl="1">
              <a:defRPr sz="2000"/>
            </a:pPr>
            <a:r>
              <a:rPr dirty="0" err="1"/>
              <a:t>npm</a:t>
            </a:r>
            <a:r>
              <a:rPr dirty="0"/>
              <a:t> install</a:t>
            </a:r>
          </a:p>
          <a:p>
            <a:pPr>
              <a:defRPr sz="2000"/>
            </a:pPr>
            <a:r>
              <a:rPr dirty="0"/>
              <a:t>This installs all required packages.</a:t>
            </a:r>
          </a:p>
          <a:p>
            <a:pPr marL="573088" indent="0">
              <a:buNone/>
              <a:defRPr sz="2000"/>
            </a:pPr>
            <a:r>
              <a:rPr dirty="0"/>
              <a:t>6. Start the development server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React project using Vite</a:t>
            </a:r>
          </a:p>
        </p:txBody>
      </p:sp>
      <p:sp>
        <p:nvSpPr>
          <p:cNvPr id="3" name="Content Placeholder 2"/>
          <p:cNvSpPr>
            <a:spLocks noGrp="1"/>
          </p:cNvSpPr>
          <p:nvPr>
            <p:ph idx="1"/>
          </p:nvPr>
        </p:nvSpPr>
        <p:spPr/>
        <p:txBody>
          <a:bodyPr/>
          <a:lstStyle/>
          <a:p>
            <a:pPr lvl="1">
              <a:defRPr sz="2000"/>
            </a:pPr>
            <a:r>
              <a:rPr dirty="0" err="1"/>
              <a:t>npm</a:t>
            </a:r>
            <a:r>
              <a:rPr dirty="0"/>
              <a:t> run dev</a:t>
            </a:r>
          </a:p>
          <a:p>
            <a:pPr>
              <a:defRPr sz="2000"/>
            </a:pPr>
            <a:r>
              <a:rPr dirty="0"/>
              <a:t>This starts the local development server, usually on http://localhost:5173/.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project structure</a:t>
            </a:r>
          </a:p>
        </p:txBody>
      </p:sp>
      <p:sp>
        <p:nvSpPr>
          <p:cNvPr id="3" name="Content Placeholder 2"/>
          <p:cNvSpPr>
            <a:spLocks noGrp="1"/>
          </p:cNvSpPr>
          <p:nvPr>
            <p:ph idx="1"/>
          </p:nvPr>
        </p:nvSpPr>
        <p:spPr/>
        <p:txBody>
          <a:bodyPr/>
          <a:lstStyle/>
          <a:p>
            <a:pPr>
              <a:defRPr sz="2000"/>
            </a:pPr>
            <a:r>
              <a:rPr dirty="0"/>
              <a:t>A Vite React project usually contains files like:</a:t>
            </a:r>
          </a:p>
          <a:p>
            <a:pPr lvl="1">
              <a:defRPr sz="2000"/>
            </a:pPr>
            <a:r>
              <a:rPr dirty="0" err="1"/>
              <a:t>src</a:t>
            </a:r>
            <a:r>
              <a:rPr dirty="0"/>
              <a:t>/ for your source code.</a:t>
            </a:r>
          </a:p>
          <a:p>
            <a:pPr lvl="1">
              <a:defRPr sz="2000"/>
            </a:pPr>
            <a:r>
              <a:rPr dirty="0" err="1"/>
              <a:t>App.jsx</a:t>
            </a:r>
            <a:r>
              <a:rPr dirty="0"/>
              <a:t> for your main component.</a:t>
            </a:r>
          </a:p>
          <a:p>
            <a:pPr lvl="1">
              <a:defRPr sz="2000"/>
            </a:pPr>
            <a:r>
              <a:rPr dirty="0" err="1"/>
              <a:t>main.jsx</a:t>
            </a:r>
            <a:r>
              <a:rPr dirty="0"/>
              <a:t> for rendering the app.</a:t>
            </a:r>
          </a:p>
          <a:p>
            <a:pPr lvl="1">
              <a:defRPr sz="2000"/>
            </a:pPr>
            <a:r>
              <a:rPr dirty="0"/>
              <a:t>index.html as the entry HTML file.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React example in Vite</a:t>
            </a:r>
          </a:p>
        </p:txBody>
      </p:sp>
      <p:sp>
        <p:nvSpPr>
          <p:cNvPr id="3" name="Content Placeholder 2"/>
          <p:cNvSpPr>
            <a:spLocks noGrp="1"/>
          </p:cNvSpPr>
          <p:nvPr>
            <p:ph idx="1"/>
          </p:nvPr>
        </p:nvSpPr>
        <p:spPr/>
        <p:txBody>
          <a:bodyPr/>
          <a:lstStyle/>
          <a:p>
            <a:pPr>
              <a:defRPr sz="2000"/>
            </a:pPr>
            <a:r>
              <a:t>// src/App.jsx</a:t>
            </a:r>
          </a:p>
          <a:p>
            <a:pPr>
              <a:defRPr sz="2000"/>
            </a:pPr>
            <a:r>
              <a:t>function App() {</a:t>
            </a:r>
          </a:p>
          <a:p>
            <a:pPr>
              <a:defRPr sz="2000"/>
            </a:pPr>
            <a:r>
              <a:t>return (</a:t>
            </a:r>
          </a:p>
          <a:p>
            <a:pPr>
              <a:defRPr sz="2000"/>
            </a:pPr>
            <a:r>
              <a:t>&lt;div&gt;</a:t>
            </a:r>
          </a:p>
          <a:p>
            <a:pPr>
              <a:defRPr sz="2000"/>
            </a:pPr>
            <a:r>
              <a:t>&lt;h1&gt;Hello React with Vite&lt;/h1&gt;</a:t>
            </a:r>
          </a:p>
          <a:p>
            <a:pPr>
              <a:defRPr sz="2000"/>
            </a:pPr>
            <a:r>
              <a:t>&lt;p&gt;This is a simple starter app.&lt;/p&gt;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React example in Vite</a:t>
            </a:r>
          </a:p>
        </p:txBody>
      </p:sp>
      <p:sp>
        <p:nvSpPr>
          <p:cNvPr id="3" name="Content Placeholder 2"/>
          <p:cNvSpPr>
            <a:spLocks noGrp="1"/>
          </p:cNvSpPr>
          <p:nvPr>
            <p:ph idx="1"/>
          </p:nvPr>
        </p:nvSpPr>
        <p:spPr/>
        <p:txBody>
          <a:bodyPr/>
          <a:lstStyle/>
          <a:p>
            <a:pPr>
              <a:defRPr sz="2000"/>
            </a:pPr>
            <a:r>
              <a:t>&lt;/div&gt;</a:t>
            </a:r>
          </a:p>
          <a:p>
            <a:pPr>
              <a:defRPr sz="2000"/>
            </a:pPr>
            <a:r>
              <a:t>);</a:t>
            </a:r>
          </a:p>
          <a:p>
            <a:pPr>
              <a:defRPr sz="2000"/>
            </a:pPr>
            <a:r>
              <a:t>}</a:t>
            </a:r>
          </a:p>
          <a:p>
            <a:pPr>
              <a:defRPr sz="2000"/>
            </a:pPr>
            <a:r>
              <a:t>export default App;</a:t>
            </a:r>
          </a:p>
          <a:p>
            <a:pPr>
              <a:defRPr sz="2000"/>
            </a:pPr>
            <a:r>
              <a:t>This is then rendered from main.jsx into the page.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JSX?</a:t>
            </a:r>
          </a:p>
        </p:txBody>
      </p:sp>
      <p:sp>
        <p:nvSpPr>
          <p:cNvPr id="3" name="Content Placeholder 2"/>
          <p:cNvSpPr>
            <a:spLocks noGrp="1"/>
          </p:cNvSpPr>
          <p:nvPr>
            <p:ph idx="1"/>
          </p:nvPr>
        </p:nvSpPr>
        <p:spPr/>
        <p:txBody>
          <a:bodyPr/>
          <a:lstStyle/>
          <a:p>
            <a:pPr>
              <a:defRPr sz="2000"/>
            </a:pPr>
            <a:r>
              <a:rPr dirty="0"/>
              <a:t>JSX is a syntax extension of JavaScript that looks like HTML but </a:t>
            </a:r>
            <a:br>
              <a:rPr lang="en-US" dirty="0"/>
            </a:br>
            <a:r>
              <a:rPr dirty="0"/>
              <a:t>is used inside React to describe UI. </a:t>
            </a:r>
            <a:endParaRPr lang="en-US" dirty="0"/>
          </a:p>
          <a:p>
            <a:pPr>
              <a:defRPr sz="2000"/>
            </a:pPr>
            <a:r>
              <a:rPr dirty="0"/>
              <a:t>It makes React components easier to read and write because you </a:t>
            </a:r>
            <a:br>
              <a:rPr lang="en-US" dirty="0"/>
            </a:br>
            <a:r>
              <a:rPr dirty="0"/>
              <a:t>can write markup and JavaScript logic together in one place.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idea</a:t>
            </a:r>
          </a:p>
        </p:txBody>
      </p:sp>
      <p:sp>
        <p:nvSpPr>
          <p:cNvPr id="3" name="Content Placeholder 2"/>
          <p:cNvSpPr>
            <a:spLocks noGrp="1"/>
          </p:cNvSpPr>
          <p:nvPr>
            <p:ph idx="1"/>
          </p:nvPr>
        </p:nvSpPr>
        <p:spPr/>
        <p:txBody>
          <a:bodyPr/>
          <a:lstStyle/>
          <a:p>
            <a:pPr>
              <a:defRPr sz="2000"/>
            </a:pPr>
            <a:r>
              <a:rPr dirty="0"/>
              <a:t>Instead of writing UI with lots of </a:t>
            </a:r>
            <a:r>
              <a:rPr dirty="0" err="1"/>
              <a:t>createElement</a:t>
            </a:r>
            <a:r>
              <a:rPr dirty="0"/>
              <a:t>() calls, JSX lets you write something like:</a:t>
            </a:r>
          </a:p>
          <a:p>
            <a:pPr lvl="1">
              <a:defRPr sz="2000"/>
            </a:pPr>
            <a:r>
              <a:rPr dirty="0"/>
              <a:t>const element = &lt;h1&gt;Hello, React!&lt;/h1&gt;;</a:t>
            </a:r>
          </a:p>
          <a:p>
            <a:pPr>
              <a:defRPr sz="2000"/>
            </a:pPr>
            <a:r>
              <a:rPr dirty="0"/>
              <a:t>React then converts that JSX into normal JavaScript under the hood.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JSX is used</a:t>
            </a:r>
          </a:p>
        </p:txBody>
      </p:sp>
      <p:sp>
        <p:nvSpPr>
          <p:cNvPr id="3" name="Content Placeholder 2"/>
          <p:cNvSpPr>
            <a:spLocks noGrp="1"/>
          </p:cNvSpPr>
          <p:nvPr>
            <p:ph idx="1"/>
          </p:nvPr>
        </p:nvSpPr>
        <p:spPr/>
        <p:txBody>
          <a:bodyPr/>
          <a:lstStyle/>
          <a:p>
            <a:pPr>
              <a:defRPr sz="2000"/>
            </a:pPr>
            <a:r>
              <a:rPr dirty="0"/>
              <a:t>JSX is popular because it:</a:t>
            </a:r>
          </a:p>
          <a:p>
            <a:pPr lvl="1">
              <a:defRPr sz="2000"/>
            </a:pPr>
            <a:r>
              <a:rPr dirty="0"/>
              <a:t>Makes UI code easier to understand.</a:t>
            </a:r>
          </a:p>
          <a:p>
            <a:pPr lvl="1">
              <a:defRPr sz="2000"/>
            </a:pPr>
            <a:r>
              <a:rPr dirty="0"/>
              <a:t>Looks close to HTML, so it feels familiar.</a:t>
            </a:r>
          </a:p>
          <a:p>
            <a:pPr lvl="1">
              <a:defRPr sz="2000"/>
            </a:pPr>
            <a:r>
              <a:rPr dirty="0"/>
              <a:t>Lets you mix JavaScript expressions with markup.</a:t>
            </a:r>
          </a:p>
          <a:p>
            <a:pPr lvl="1">
              <a:defRPr sz="2000"/>
            </a:pPr>
            <a:r>
              <a:rPr dirty="0"/>
              <a:t>Makes components more readable and maintainable.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vs HTML</a:t>
            </a:r>
          </a:p>
        </p:txBody>
      </p:sp>
      <p:sp>
        <p:nvSpPr>
          <p:cNvPr id="3" name="Content Placeholder 2"/>
          <p:cNvSpPr>
            <a:spLocks noGrp="1"/>
          </p:cNvSpPr>
          <p:nvPr>
            <p:ph idx="1"/>
          </p:nvPr>
        </p:nvSpPr>
        <p:spPr/>
        <p:txBody>
          <a:bodyPr/>
          <a:lstStyle/>
          <a:p>
            <a:pPr>
              <a:defRPr sz="2000"/>
            </a:pPr>
            <a:r>
              <a:rPr dirty="0"/>
              <a:t>JSX looks like HTML, but it is not HTML. It is JavaScript syntax that must be transformed before the browser can understand it. Also, some attribute names are different in JSX because they must follow JavaScript rules.</a:t>
            </a:r>
          </a:p>
          <a:p>
            <a:pPr>
              <a:defRPr sz="2000"/>
            </a:pPr>
            <a:r>
              <a:rPr dirty="0"/>
              <a:t>Examples:</a:t>
            </a:r>
          </a:p>
          <a:p>
            <a:pPr lvl="1">
              <a:defRPr sz="2000"/>
            </a:pPr>
            <a:r>
              <a:rPr dirty="0"/>
              <a:t>class becomes </a:t>
            </a:r>
            <a:r>
              <a:rPr dirty="0" err="1"/>
              <a:t>className</a:t>
            </a:r>
            <a:endParaRPr dirty="0"/>
          </a:p>
          <a:p>
            <a:pPr lvl="1">
              <a:defRPr sz="2000"/>
            </a:pPr>
            <a:r>
              <a:rPr dirty="0"/>
              <a:t>for becomes </a:t>
            </a:r>
            <a:r>
              <a:rPr dirty="0" err="1"/>
              <a:t>htmlFor</a:t>
            </a:r>
            <a:endParaRPr dirty="0"/>
          </a:p>
          <a:p>
            <a:pPr lvl="1">
              <a:defRPr sz="2000"/>
            </a:pPr>
            <a:r>
              <a:rPr dirty="0" err="1"/>
              <a:t>tabindex</a:t>
            </a:r>
            <a:r>
              <a:rPr dirty="0"/>
              <a:t> becomes </a:t>
            </a:r>
            <a:r>
              <a:rPr dirty="0" err="1"/>
              <a:t>tabIndex</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marL="573088" indent="0">
              <a:buNone/>
              <a:defRPr sz="2000"/>
            </a:pPr>
            <a:r>
              <a:rPr dirty="0"/>
              <a:t>1. Return one parent element</a:t>
            </a:r>
          </a:p>
          <a:p>
            <a:pPr>
              <a:defRPr sz="2000"/>
            </a:pPr>
            <a:r>
              <a:rPr dirty="0"/>
              <a:t>JSX must return a single top-level element.</a:t>
            </a:r>
          </a:p>
          <a:p>
            <a:pPr lvl="1">
              <a:defRPr sz="2000"/>
            </a:pPr>
            <a:r>
              <a:rPr dirty="0"/>
              <a:t>function App() {</a:t>
            </a:r>
          </a:p>
          <a:p>
            <a:pPr lvl="1">
              <a:defRPr sz="2000"/>
            </a:pPr>
            <a:r>
              <a:rPr dirty="0"/>
              <a:t>return (</a:t>
            </a:r>
          </a:p>
          <a:p>
            <a:pPr lvl="1">
              <a:defRPr sz="2000"/>
            </a:pPr>
            <a:r>
              <a:rPr dirty="0"/>
              <a:t>&lt;div&gt;</a:t>
            </a:r>
          </a:p>
          <a:p>
            <a:pPr lvl="1">
              <a:defRPr sz="2000"/>
            </a:pPr>
            <a:r>
              <a:rPr dirty="0"/>
              <a:t>&lt;h1&gt;Hello&lt;/h1&gt;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&lt;p&gt;Welcome&lt;/p&gt;</a:t>
            </a:r>
          </a:p>
          <a:p>
            <a:pPr>
              <a:defRPr sz="2000"/>
            </a:pPr>
            <a:r>
              <a:t>&lt;/div&gt;</a:t>
            </a:r>
          </a:p>
          <a:p>
            <a:pPr>
              <a:defRPr sz="2000"/>
            </a:pPr>
            <a:r>
              <a:t>);</a:t>
            </a:r>
          </a:p>
          <a:p>
            <a:pPr>
              <a:defRPr sz="2000"/>
            </a:pPr>
            <a:r>
              <a:t>}</a:t>
            </a:r>
          </a:p>
          <a:p>
            <a:pPr>
              <a:defRPr sz="2000"/>
            </a:pPr>
            <a:r>
              <a:t>If you want no extra wrapper, use a fragment:</a:t>
            </a:r>
          </a:p>
          <a:p>
            <a:pPr>
              <a:defRPr sz="2000"/>
            </a:pPr>
            <a:r>
              <a:t>function App()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return (</a:t>
            </a:r>
          </a:p>
          <a:p>
            <a:pPr>
              <a:defRPr sz="2000"/>
            </a:pPr>
            <a:r>
              <a:t>&lt;&gt;</a:t>
            </a:r>
          </a:p>
          <a:p>
            <a:pPr>
              <a:defRPr sz="2000"/>
            </a:pPr>
            <a:r>
              <a:t>&lt;h1&gt;Hello&lt;/h1&gt;</a:t>
            </a:r>
          </a:p>
          <a:p>
            <a:pPr>
              <a:defRPr sz="2000"/>
            </a:pPr>
            <a:r>
              <a:t>&lt;p&gt;Welcome&lt;/p&gt;</a:t>
            </a:r>
          </a:p>
          <a:p>
            <a:pPr>
              <a:defRPr sz="2000"/>
            </a:pPr>
            <a:r>
              <a:t>&lt;/&gt;</a:t>
            </a:r>
          </a:p>
          <a:p>
            <a:pPr>
              <a:defRPr sz="2000"/>
            </a:pPr>
            <a: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a:t>
            </a:r>
          </a:p>
          <a:p>
            <a:pPr>
              <a:defRPr sz="2000"/>
            </a:pPr>
            <a:r>
              <a:rPr dirty="0"/>
              <a:t>This is one of the most important JSX rules.</a:t>
            </a:r>
          </a:p>
          <a:p>
            <a:pPr marL="573088" indent="0">
              <a:buNone/>
              <a:defRPr sz="2000"/>
            </a:pPr>
            <a:r>
              <a:rPr dirty="0"/>
              <a:t>2. Close all tags</a:t>
            </a:r>
          </a:p>
          <a:p>
            <a:pPr>
              <a:defRPr sz="2000"/>
            </a:pPr>
            <a:r>
              <a:rPr dirty="0"/>
              <a:t>Every tag must be properly closed.</a:t>
            </a:r>
          </a:p>
          <a:p>
            <a:pPr>
              <a:defRPr sz="2000"/>
            </a:pPr>
            <a:r>
              <a:rPr dirty="0"/>
              <a:t>&lt;</a:t>
            </a:r>
            <a:r>
              <a:rPr dirty="0" err="1"/>
              <a:t>img</a:t>
            </a:r>
            <a:r>
              <a:rPr dirty="0"/>
              <a:t> </a:t>
            </a:r>
            <a:r>
              <a:rPr dirty="0" err="1"/>
              <a:t>src</a:t>
            </a:r>
            <a:r>
              <a:rPr dirty="0"/>
              <a:t>="logo.png" alt="Logo" /&gt;</a:t>
            </a:r>
          </a:p>
          <a:p>
            <a:pPr>
              <a:defRPr sz="2000"/>
            </a:pPr>
            <a:r>
              <a:rPr dirty="0"/>
              <a:t>&lt;input type="text" /&gt;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Even tags that are self-closing in HTML must end with /&gt; in JSX.</a:t>
            </a:r>
          </a:p>
          <a:p>
            <a:pPr marL="573088" indent="0">
              <a:buNone/>
              <a:defRPr sz="2000"/>
            </a:pPr>
            <a:r>
              <a:rPr dirty="0"/>
              <a:t>3. Use camelCase for attributes</a:t>
            </a:r>
          </a:p>
          <a:p>
            <a:pPr>
              <a:defRPr sz="2000"/>
            </a:pPr>
            <a:r>
              <a:rPr dirty="0"/>
              <a:t>JSX uses JavaScript-style naming for attributes and event names.</a:t>
            </a:r>
          </a:p>
          <a:p>
            <a:pPr>
              <a:defRPr sz="2000"/>
            </a:pPr>
            <a:r>
              <a:rPr dirty="0"/>
              <a:t>&lt;button </a:t>
            </a:r>
            <a:r>
              <a:rPr dirty="0" err="1"/>
              <a:t>onClick</a:t>
            </a:r>
            <a:r>
              <a:rPr dirty="0"/>
              <a:t>={</a:t>
            </a:r>
            <a:r>
              <a:rPr dirty="0" err="1"/>
              <a:t>handleClick</a:t>
            </a:r>
            <a:r>
              <a:rPr dirty="0"/>
              <a:t>}&gt;Click&lt;/button&gt;</a:t>
            </a:r>
          </a:p>
          <a:p>
            <a:pPr>
              <a:defRPr sz="2000"/>
            </a:pPr>
            <a:r>
              <a:rPr dirty="0"/>
              <a:t>Not:</a:t>
            </a:r>
          </a:p>
          <a:p>
            <a:pPr>
              <a:defRPr sz="2000"/>
            </a:pPr>
            <a:r>
              <a:rPr dirty="0"/>
              <a:t>&lt;button onclick={</a:t>
            </a:r>
            <a:r>
              <a:rPr dirty="0" err="1"/>
              <a:t>handleClick</a:t>
            </a:r>
            <a:r>
              <a:rPr dirty="0"/>
              <a:t>}&gt;Click&lt;/button&gt;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Similarly:</a:t>
            </a:r>
          </a:p>
          <a:p>
            <a:pPr>
              <a:defRPr sz="2000"/>
            </a:pPr>
            <a:r>
              <a:rPr dirty="0" err="1"/>
              <a:t>className</a:t>
            </a:r>
            <a:r>
              <a:rPr dirty="0"/>
              <a:t> instead of class</a:t>
            </a:r>
          </a:p>
          <a:p>
            <a:pPr>
              <a:defRPr sz="2000"/>
            </a:pPr>
            <a:r>
              <a:rPr dirty="0" err="1"/>
              <a:t>htmlFor</a:t>
            </a:r>
            <a:r>
              <a:rPr dirty="0"/>
              <a:t> instead of for</a:t>
            </a:r>
          </a:p>
          <a:p>
            <a:pPr>
              <a:defRPr sz="2000"/>
            </a:pPr>
            <a:r>
              <a:rPr dirty="0" err="1"/>
              <a:t>onChange</a:t>
            </a:r>
            <a:r>
              <a:rPr dirty="0"/>
              <a:t> instead of </a:t>
            </a:r>
            <a:r>
              <a:rPr dirty="0" err="1"/>
              <a:t>onchange</a:t>
            </a:r>
            <a:endParaRPr dirty="0"/>
          </a:p>
          <a:p>
            <a:pPr marL="573088" indent="0">
              <a:buNone/>
              <a:defRPr sz="2000"/>
            </a:pPr>
            <a:r>
              <a:rPr dirty="0"/>
              <a:t>4. Embed JavaScript with curly braces</a:t>
            </a:r>
          </a:p>
          <a:p>
            <a:pPr>
              <a:defRPr sz="2000"/>
            </a:pPr>
            <a:r>
              <a:rPr dirty="0"/>
              <a:t>You use {} to place JavaScript expressions inside JSX.</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const name = "Asha";</a:t>
            </a:r>
          </a:p>
          <a:p>
            <a:pPr>
              <a:defRPr sz="2000"/>
            </a:pPr>
            <a:r>
              <a:rPr dirty="0"/>
              <a:t>function App() {</a:t>
            </a:r>
          </a:p>
          <a:p>
            <a:pPr>
              <a:defRPr sz="2000"/>
            </a:pPr>
            <a:r>
              <a:rPr dirty="0"/>
              <a:t>return &lt;h1&gt;Hello, {name}&lt;/h1&gt;;</a:t>
            </a:r>
          </a:p>
          <a:p>
            <a:pPr>
              <a:defRPr sz="2000"/>
            </a:pPr>
            <a:r>
              <a:rPr dirty="0"/>
              <a:t>}</a:t>
            </a:r>
          </a:p>
          <a:p>
            <a:pPr>
              <a:defRPr sz="2000"/>
            </a:pPr>
            <a:r>
              <a:rPr dirty="0"/>
              <a:t>You can put expressions inside text, attributes, and component </a:t>
            </a:r>
            <a:r>
              <a:rPr dirty="0" err="1"/>
              <a:t>props.legacy</a:t>
            </a:r>
            <a:r>
              <a:rPr dirty="0"/>
              <a:t>.</a:t>
            </a:r>
          </a:p>
          <a:p>
            <a:pPr marL="573088" indent="0">
              <a:buNone/>
              <a:defRPr sz="2000"/>
            </a:pPr>
            <a:r>
              <a:rPr dirty="0"/>
              <a:t>5. Use expressions, not statements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Inside JSX braces, you can write expressions like:</a:t>
            </a:r>
          </a:p>
          <a:p>
            <a:pPr>
              <a:defRPr sz="2000"/>
            </a:pPr>
            <a:r>
              <a:t>2 + 2</a:t>
            </a:r>
          </a:p>
          <a:p>
            <a:pPr>
              <a:defRPr sz="2000"/>
            </a:pPr>
            <a:r>
              <a:t>user.name</a:t>
            </a:r>
          </a:p>
          <a:p>
            <a:pPr>
              <a:defRPr sz="2000"/>
            </a:pPr>
            <a:r>
              <a:t>isLoggedIn ? "Yes" : "No"</a:t>
            </a:r>
          </a:p>
          <a:p>
            <a:pPr>
              <a:defRPr sz="2000"/>
            </a:pPr>
            <a:r>
              <a:t>But not statements like:</a:t>
            </a:r>
          </a:p>
          <a:p>
            <a:pPr>
              <a:defRPr sz="2000"/>
            </a:pPr>
            <a:r>
              <a:t>if</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for</a:t>
            </a:r>
          </a:p>
          <a:p>
            <a:pPr>
              <a:defRPr sz="2000"/>
            </a:pPr>
            <a:r>
              <a:t>while</a:t>
            </a:r>
          </a:p>
          <a:p>
            <a:pPr>
              <a:defRPr sz="2000"/>
            </a:pPr>
            <a:r>
              <a:t>Example:</a:t>
            </a:r>
          </a:p>
          <a:p>
            <a:pPr>
              <a:defRPr sz="2000"/>
            </a:pPr>
            <a:r>
              <a:t>const isLoggedIn = true;</a:t>
            </a:r>
          </a:p>
          <a:p>
            <a:pPr>
              <a:defRPr sz="2000"/>
            </a:pPr>
            <a:r>
              <a:t>function App() {</a:t>
            </a:r>
          </a:p>
          <a:p>
            <a:pPr>
              <a:defRPr sz="2000"/>
            </a:pPr>
            <a:r>
              <a:t>return &lt;p&gt;{isLoggedIn ? "Welcome back" : "Please log in"}&lt;/p&gt;;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a:t>
            </a:r>
          </a:p>
          <a:p>
            <a:pPr marL="573088" indent="0">
              <a:buNone/>
              <a:defRPr sz="2000"/>
            </a:pPr>
            <a:r>
              <a:rPr dirty="0"/>
              <a:t>6. Use {/* comments */} for comments</a:t>
            </a:r>
          </a:p>
          <a:p>
            <a:pPr>
              <a:defRPr sz="2000"/>
            </a:pPr>
            <a:r>
              <a:rPr dirty="0"/>
              <a:t>Comments inside JSX must be written like this:</a:t>
            </a:r>
          </a:p>
          <a:p>
            <a:pPr>
              <a:defRPr sz="2000"/>
            </a:pPr>
            <a:r>
              <a:rPr dirty="0"/>
              <a:t>function App() {</a:t>
            </a:r>
          </a:p>
          <a:p>
            <a:pPr>
              <a:defRPr sz="2000"/>
            </a:pPr>
            <a:r>
              <a:rPr dirty="0"/>
              <a:t>return (</a:t>
            </a:r>
          </a:p>
          <a:p>
            <a:pPr>
              <a:defRPr sz="2000"/>
            </a:pPr>
            <a:r>
              <a:rPr dirty="0"/>
              <a:t>&lt;div&gt;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 This is a JSX comment */}</a:t>
            </a:r>
          </a:p>
          <a:p>
            <a:pPr>
              <a:defRPr sz="2000"/>
            </a:pPr>
            <a:r>
              <a:rPr dirty="0"/>
              <a:t>&lt;h1&gt;Hello&lt;/h1&gt;</a:t>
            </a:r>
          </a:p>
          <a:p>
            <a:pPr>
              <a:defRPr sz="2000"/>
            </a:pPr>
            <a:r>
              <a:rPr dirty="0"/>
              <a:t>&lt;/div&gt;</a:t>
            </a:r>
          </a:p>
          <a:p>
            <a:pPr>
              <a:defRPr sz="2000"/>
            </a:pPr>
            <a:r>
              <a:rPr dirty="0"/>
              <a:t>);</a:t>
            </a:r>
          </a:p>
          <a:p>
            <a:pPr>
              <a:defRPr sz="2000"/>
            </a:pPr>
            <a:r>
              <a:rPr dirty="0"/>
              <a:t>}</a:t>
            </a:r>
          </a:p>
          <a:p>
            <a:pPr marL="573088" indent="0">
              <a:buNone/>
              <a:defRPr sz="2000"/>
            </a:pPr>
            <a:r>
              <a:rPr dirty="0"/>
              <a:t>7. Attributes need quotes or braces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Use quotes for strings and braces for JavaScript values.</a:t>
            </a:r>
          </a:p>
          <a:p>
            <a:pPr>
              <a:defRPr sz="2000"/>
            </a:pPr>
            <a:r>
              <a:t>const imageUrl = "logo.png";</a:t>
            </a:r>
          </a:p>
          <a:p>
            <a:pPr>
              <a:defRPr sz="2000"/>
            </a:pPr>
            <a:r>
              <a:t>function App() {</a:t>
            </a:r>
          </a:p>
          <a:p>
            <a:pPr>
              <a:defRPr sz="2000"/>
            </a:pPr>
            <a:r>
              <a:t>return (</a:t>
            </a:r>
          </a:p>
          <a:p>
            <a:pPr>
              <a:defRPr sz="2000"/>
            </a:pPr>
            <a:r>
              <a:t>&lt;img src={imageUrl} alt="Logo" /&gt;</a:t>
            </a:r>
          </a:p>
          <a:p>
            <a:pPr>
              <a:defRPr sz="2000"/>
            </a:pPr>
            <a: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a:t>
            </a:r>
          </a:p>
          <a:p>
            <a:pPr>
              <a:defRPr sz="2000"/>
            </a:pPr>
            <a:r>
              <a:rPr dirty="0"/>
              <a:t>Do not mix quotes and braces incorrectly.</a:t>
            </a:r>
          </a:p>
          <a:p>
            <a:pPr marL="573088" indent="0">
              <a:buNone/>
              <a:defRPr sz="2000"/>
            </a:pPr>
            <a:r>
              <a:rPr dirty="0"/>
              <a:t>8. Multiple lines should be wrapped neatly</a:t>
            </a:r>
          </a:p>
          <a:p>
            <a:pPr>
              <a:defRPr sz="2000"/>
            </a:pPr>
            <a:r>
              <a:rPr dirty="0"/>
              <a:t>Usually, JSX is written inside parentheses for readability.</a:t>
            </a:r>
          </a:p>
          <a:p>
            <a:pPr>
              <a:defRPr sz="2000"/>
            </a:pPr>
            <a:r>
              <a:rPr dirty="0"/>
              <a:t>function App() {</a:t>
            </a:r>
          </a:p>
          <a:p>
            <a:pPr>
              <a:defRPr sz="2000"/>
            </a:pPr>
            <a:r>
              <a:rPr dirty="0"/>
              <a:t>return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&lt;div&gt;</a:t>
            </a:r>
          </a:p>
          <a:p>
            <a:pPr>
              <a:defRPr sz="2000"/>
            </a:pPr>
            <a:r>
              <a:t>&lt;h1&gt;Hello&lt;/h1&gt;</a:t>
            </a:r>
          </a:p>
          <a:p>
            <a:pPr>
              <a:defRPr sz="2000"/>
            </a:pPr>
            <a:r>
              <a:t>&lt;p&gt;This is JSX&lt;/p&gt;</a:t>
            </a:r>
          </a:p>
          <a:p>
            <a:pPr>
              <a:defRPr sz="2000"/>
            </a:pPr>
            <a:r>
              <a:t>&lt;/div&gt;</a:t>
            </a:r>
          </a:p>
          <a:p>
            <a:pPr>
              <a:defRPr sz="2000"/>
            </a:pPr>
            <a:r>
              <a:t>);</a:t>
            </a:r>
          </a:p>
          <a:p>
            <a:pPr>
              <a:defRPr sz="2000"/>
            </a:pPr>
            <a: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This helps avoid syntax mistakes.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JSX matters in React</a:t>
            </a:r>
          </a:p>
        </p:txBody>
      </p:sp>
      <p:sp>
        <p:nvSpPr>
          <p:cNvPr id="3" name="Content Placeholder 2"/>
          <p:cNvSpPr>
            <a:spLocks noGrp="1"/>
          </p:cNvSpPr>
          <p:nvPr>
            <p:ph idx="1"/>
          </p:nvPr>
        </p:nvSpPr>
        <p:spPr/>
        <p:txBody>
          <a:bodyPr/>
          <a:lstStyle/>
          <a:p>
            <a:pPr>
              <a:defRPr sz="2000"/>
            </a:pPr>
            <a:r>
              <a:t>JSX is the main way React components are written because it makes UI code:</a:t>
            </a:r>
          </a:p>
          <a:p>
            <a:pPr>
              <a:defRPr sz="2000"/>
            </a:pPr>
            <a:r>
              <a:t>more readable,</a:t>
            </a:r>
          </a:p>
          <a:p>
            <a:pPr>
              <a:defRPr sz="2000"/>
            </a:pPr>
            <a:r>
              <a:t>easier to structure,</a:t>
            </a:r>
          </a:p>
          <a:p>
            <a:pPr>
              <a:defRPr sz="2000"/>
            </a:pPr>
            <a:r>
              <a:t>simpler to maintain,</a:t>
            </a:r>
          </a:p>
          <a:p>
            <a:pPr>
              <a:defRPr sz="2000"/>
            </a:pPr>
            <a:r>
              <a:t>and easier to connect with JavaScript logic.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React Components</a:t>
            </a:r>
          </a:p>
        </p:txBody>
      </p:sp>
      <p:sp>
        <p:nvSpPr>
          <p:cNvPr id="3" name="Content Placeholder 2"/>
          <p:cNvSpPr>
            <a:spLocks noGrp="1"/>
          </p:cNvSpPr>
          <p:nvPr>
            <p:ph idx="1"/>
          </p:nvPr>
        </p:nvSpPr>
        <p:spPr/>
        <p:txBody>
          <a:bodyPr/>
          <a:lstStyle/>
          <a:p>
            <a:pPr>
              <a:defRPr sz="2000"/>
            </a:pPr>
            <a:r>
              <a:rPr dirty="0"/>
              <a:t>A React component is a reusable building block of the UI. </a:t>
            </a:r>
            <a:endParaRPr lang="en-US" dirty="0"/>
          </a:p>
          <a:p>
            <a:pPr>
              <a:defRPr sz="2000"/>
            </a:pPr>
            <a:r>
              <a:rPr dirty="0"/>
              <a:t>You can think of it like a small piece of the page that has its own structure, logic, and sometimes state. </a:t>
            </a:r>
            <a:endParaRPr lang="en-US" dirty="0"/>
          </a:p>
          <a:p>
            <a:pPr>
              <a:defRPr sz="2000"/>
            </a:pPr>
            <a:r>
              <a:rPr dirty="0"/>
              <a:t>React apps are made by combining many components together.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B3853-A03A-7D3F-BC7B-DC467A6A1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43921D-D760-67C9-05B0-36BBA076A047}"/>
              </a:ext>
            </a:extLst>
          </p:cNvPr>
          <p:cNvSpPr>
            <a:spLocks noGrp="1"/>
          </p:cNvSpPr>
          <p:nvPr>
            <p:ph type="title"/>
          </p:nvPr>
        </p:nvSpPr>
        <p:spPr/>
        <p:txBody>
          <a:bodyPr/>
          <a:lstStyle/>
          <a:p>
            <a:r>
              <a:rPr dirty="0"/>
              <a:t>React Components</a:t>
            </a:r>
          </a:p>
        </p:txBody>
      </p:sp>
      <p:sp>
        <p:nvSpPr>
          <p:cNvPr id="3" name="Content Placeholder 2">
            <a:extLst>
              <a:ext uri="{FF2B5EF4-FFF2-40B4-BE49-F238E27FC236}">
                <a16:creationId xmlns:a16="http://schemas.microsoft.com/office/drawing/2014/main" id="{EEA6C242-15F0-9E06-98F5-21B69C05E287}"/>
              </a:ext>
            </a:extLst>
          </p:cNvPr>
          <p:cNvSpPr>
            <a:spLocks noGrp="1"/>
          </p:cNvSpPr>
          <p:nvPr>
            <p:ph idx="1"/>
          </p:nvPr>
        </p:nvSpPr>
        <p:spPr/>
        <p:txBody>
          <a:bodyPr/>
          <a:lstStyle/>
          <a:p>
            <a:pPr>
              <a:defRPr sz="2000"/>
            </a:pPr>
            <a:r>
              <a:rPr dirty="0"/>
              <a:t>A React component is a reusable building block of the UI. </a:t>
            </a:r>
            <a:endParaRPr lang="en-US" dirty="0"/>
          </a:p>
          <a:p>
            <a:pPr marL="1487488" lvl="1" indent="-457200">
              <a:buFont typeface="+mj-lt"/>
              <a:buAutoNum type="arabicPeriod"/>
              <a:defRPr sz="2000"/>
            </a:pPr>
            <a:r>
              <a:rPr lang="en-US" b="1" dirty="0"/>
              <a:t>Functional Component* </a:t>
            </a:r>
            <a:r>
              <a:rPr lang="en-US" dirty="0"/>
              <a:t>: component is written as a JS function</a:t>
            </a:r>
          </a:p>
          <a:p>
            <a:pPr marL="1487488" lvl="1" indent="-457200">
              <a:buFont typeface="+mj-lt"/>
              <a:buAutoNum type="arabicPeriod"/>
              <a:defRPr sz="2000"/>
            </a:pPr>
            <a:r>
              <a:rPr lang="en-US" dirty="0"/>
              <a:t>Class Component : component is written as a JS class / kind of older approach (assignment)</a:t>
            </a:r>
          </a:p>
          <a:p>
            <a:pPr marL="1487488" lvl="1" indent="-457200">
              <a:buFont typeface="+mj-lt"/>
              <a:buAutoNum type="arabicPeriod"/>
              <a:defRPr sz="2000"/>
            </a:pPr>
            <a:endParaRPr lang="en-US" dirty="0"/>
          </a:p>
          <a:p>
            <a:pPr marL="1030288" lvl="1" indent="0">
              <a:buNone/>
              <a:defRPr sz="2000"/>
            </a:pPr>
            <a:r>
              <a:rPr lang="en-US" sz="1100" b="1" dirty="0"/>
              <a:t>*: most commonly used approach</a:t>
            </a:r>
          </a:p>
        </p:txBody>
      </p:sp>
    </p:spTree>
    <p:extLst>
      <p:ext uri="{BB962C8B-B14F-4D97-AF65-F5344CB8AC3E}">
        <p14:creationId xmlns:p14="http://schemas.microsoft.com/office/powerpoint/2010/main" val="7739356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component is</a:t>
            </a:r>
          </a:p>
        </p:txBody>
      </p:sp>
      <p:sp>
        <p:nvSpPr>
          <p:cNvPr id="3" name="Content Placeholder 2"/>
          <p:cNvSpPr>
            <a:spLocks noGrp="1"/>
          </p:cNvSpPr>
          <p:nvPr>
            <p:ph idx="1"/>
          </p:nvPr>
        </p:nvSpPr>
        <p:spPr/>
        <p:txBody>
          <a:bodyPr/>
          <a:lstStyle/>
          <a:p>
            <a:pPr>
              <a:defRPr sz="2000"/>
            </a:pPr>
            <a:r>
              <a:rPr dirty="0"/>
              <a:t>A component is usually a JavaScript function or class that returns UI in JSX. </a:t>
            </a:r>
            <a:endParaRPr lang="en-US" dirty="0"/>
          </a:p>
          <a:p>
            <a:pPr>
              <a:defRPr sz="2000"/>
            </a:pPr>
            <a:r>
              <a:rPr dirty="0"/>
              <a:t>In modern React, function components are the standard and most common approach, while class components are older and less commonly used now.</a:t>
            </a:r>
          </a:p>
          <a:p>
            <a:pPr lvl="1">
              <a:defRPr sz="2000"/>
            </a:pPr>
            <a:r>
              <a:rPr dirty="0"/>
              <a:t>function Greeting() {</a:t>
            </a:r>
          </a:p>
          <a:p>
            <a:pPr lvl="1">
              <a:defRPr sz="2000"/>
            </a:pPr>
            <a:r>
              <a:rPr dirty="0"/>
              <a:t>return &lt;h1&gt;Hello, React!&lt;/h1&gt;;</a:t>
            </a:r>
          </a:p>
          <a:p>
            <a:pPr lvl="1">
              <a:defRPr sz="2000"/>
            </a:pPr>
            <a:r>
              <a:rPr dirty="0"/>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components are used</a:t>
            </a:r>
          </a:p>
        </p:txBody>
      </p:sp>
      <p:sp>
        <p:nvSpPr>
          <p:cNvPr id="3" name="Content Placeholder 2"/>
          <p:cNvSpPr>
            <a:spLocks noGrp="1"/>
          </p:cNvSpPr>
          <p:nvPr>
            <p:ph idx="1"/>
          </p:nvPr>
        </p:nvSpPr>
        <p:spPr/>
        <p:txBody>
          <a:bodyPr>
            <a:normAutofit/>
          </a:bodyPr>
          <a:lstStyle/>
          <a:p>
            <a:pPr>
              <a:defRPr sz="2000"/>
            </a:pPr>
            <a:r>
              <a:rPr dirty="0"/>
              <a:t>Components help you build apps in a clean and organized way because they:</a:t>
            </a:r>
          </a:p>
          <a:p>
            <a:pPr lvl="1">
              <a:defRPr sz="2000"/>
            </a:pPr>
            <a:r>
              <a:rPr dirty="0"/>
              <a:t>Break UI into small pieces.</a:t>
            </a:r>
          </a:p>
          <a:p>
            <a:pPr lvl="1">
              <a:defRPr sz="2000"/>
            </a:pPr>
            <a:r>
              <a:rPr dirty="0"/>
              <a:t>Make code easier to read.</a:t>
            </a:r>
          </a:p>
          <a:p>
            <a:pPr lvl="1">
              <a:defRPr sz="2000"/>
            </a:pPr>
            <a:r>
              <a:rPr dirty="0"/>
              <a:t>Allow reuse across the app.</a:t>
            </a:r>
          </a:p>
          <a:p>
            <a:pPr lvl="1">
              <a:defRPr sz="2000"/>
            </a:pPr>
            <a:r>
              <a:rPr dirty="0"/>
              <a:t>Keep logic close to the UI it belongs to.</a:t>
            </a:r>
          </a:p>
          <a:p>
            <a:pPr>
              <a:defRPr sz="2000"/>
            </a:pPr>
            <a:r>
              <a:rPr dirty="0"/>
              <a:t>Instead of writing one huge file, you create separate components for things like header, button, card, form, or sidebar.</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 Functional components</a:t>
            </a:r>
          </a:p>
        </p:txBody>
      </p:sp>
      <p:sp>
        <p:nvSpPr>
          <p:cNvPr id="3" name="Content Placeholder 2"/>
          <p:cNvSpPr>
            <a:spLocks noGrp="1"/>
          </p:cNvSpPr>
          <p:nvPr>
            <p:ph idx="1"/>
          </p:nvPr>
        </p:nvSpPr>
        <p:spPr/>
        <p:txBody>
          <a:bodyPr/>
          <a:lstStyle/>
          <a:p>
            <a:pPr>
              <a:defRPr sz="2000"/>
            </a:pPr>
            <a:r>
              <a:rPr dirty="0"/>
              <a:t>These are plain JavaScript functions that return JSX.</a:t>
            </a:r>
          </a:p>
          <a:p>
            <a:pPr lvl="1">
              <a:defRPr sz="2000"/>
            </a:pPr>
            <a:r>
              <a:rPr dirty="0"/>
              <a:t>function Welcome() {</a:t>
            </a:r>
          </a:p>
          <a:p>
            <a:pPr lvl="1">
              <a:defRPr sz="2000"/>
            </a:pPr>
            <a:r>
              <a:rPr dirty="0"/>
              <a:t>return &lt;h2&gt;Welcome!&lt;/h2&gt;;</a:t>
            </a:r>
          </a:p>
          <a:p>
            <a:pPr lvl="1">
              <a:defRPr sz="2000"/>
            </a:pPr>
            <a:r>
              <a:rPr dirty="0"/>
              <a:t>}</a:t>
            </a:r>
          </a:p>
          <a:p>
            <a:pPr>
              <a:defRPr sz="2000"/>
            </a:pPr>
            <a:r>
              <a:rPr dirty="0"/>
              <a:t>They are simple, flexible, and the preferred way to write React today. With hooks, functional components can also manage state and side effects.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Class components</a:t>
            </a:r>
          </a:p>
        </p:txBody>
      </p:sp>
      <p:sp>
        <p:nvSpPr>
          <p:cNvPr id="3" name="Content Placeholder 2"/>
          <p:cNvSpPr>
            <a:spLocks noGrp="1"/>
          </p:cNvSpPr>
          <p:nvPr>
            <p:ph idx="1"/>
          </p:nvPr>
        </p:nvSpPr>
        <p:spPr/>
        <p:txBody>
          <a:bodyPr/>
          <a:lstStyle/>
          <a:p>
            <a:pPr>
              <a:defRPr sz="2000"/>
            </a:pPr>
            <a:r>
              <a:t>These are ES6 classes that extend React.Component and use a render() method.</a:t>
            </a:r>
          </a:p>
          <a:p>
            <a:pPr>
              <a:defRPr sz="2000"/>
            </a:pPr>
            <a:r>
              <a:t>class Welcome extends React.Component {</a:t>
            </a:r>
          </a:p>
          <a:p>
            <a:pPr>
              <a:defRPr sz="2000"/>
            </a:pPr>
            <a:r>
              <a:t>render() {</a:t>
            </a:r>
          </a:p>
          <a:p>
            <a:pPr>
              <a:defRPr sz="2000"/>
            </a:pPr>
            <a:r>
              <a:t>return &lt;h2&gt;Welcome!&lt;/h2&gt;;</a:t>
            </a:r>
          </a:p>
          <a:p>
            <a:pPr>
              <a:defRPr sz="2000"/>
            </a:pPr>
            <a:r>
              <a:t>}</a:t>
            </a:r>
          </a:p>
          <a:p>
            <a:pPr>
              <a:defRPr sz="2000"/>
            </a:pPr>
            <a: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Class components</a:t>
            </a:r>
          </a:p>
        </p:txBody>
      </p:sp>
      <p:sp>
        <p:nvSpPr>
          <p:cNvPr id="3" name="Content Placeholder 2"/>
          <p:cNvSpPr>
            <a:spLocks noGrp="1"/>
          </p:cNvSpPr>
          <p:nvPr>
            <p:ph idx="1"/>
          </p:nvPr>
        </p:nvSpPr>
        <p:spPr/>
        <p:txBody>
          <a:bodyPr/>
          <a:lstStyle/>
          <a:p>
            <a:pPr>
              <a:defRPr sz="2000"/>
            </a:pPr>
            <a:r>
              <a:t>They were more common before hooks, but most modern React code now uses function components.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with props</a:t>
            </a:r>
          </a:p>
        </p:txBody>
      </p:sp>
      <p:sp>
        <p:nvSpPr>
          <p:cNvPr id="3" name="Content Placeholder 2"/>
          <p:cNvSpPr>
            <a:spLocks noGrp="1"/>
          </p:cNvSpPr>
          <p:nvPr>
            <p:ph idx="1"/>
          </p:nvPr>
        </p:nvSpPr>
        <p:spPr/>
        <p:txBody>
          <a:bodyPr/>
          <a:lstStyle/>
          <a:p>
            <a:pPr>
              <a:defRPr sz="2000"/>
            </a:pPr>
            <a:r>
              <a:t>Components can accept props to receive data from a parent component.</a:t>
            </a:r>
          </a:p>
          <a:p>
            <a:pPr>
              <a:defRPr sz="2000"/>
            </a:pPr>
            <a:r>
              <a:t>function UserCard({ name, age }) {</a:t>
            </a:r>
          </a:p>
          <a:p>
            <a:pPr>
              <a:defRPr sz="2000"/>
            </a:pPr>
            <a:r>
              <a:t>return (</a:t>
            </a:r>
          </a:p>
          <a:p>
            <a:pPr>
              <a:defRPr sz="2000"/>
            </a:pPr>
            <a:r>
              <a:t>&lt;div&gt;</a:t>
            </a:r>
          </a:p>
          <a:p>
            <a:pPr>
              <a:defRPr sz="2000"/>
            </a:pPr>
            <a:r>
              <a:t>&lt;h3&gt;{name}&lt;/h3&gt;</a:t>
            </a:r>
          </a:p>
          <a:p>
            <a:pPr>
              <a:defRPr sz="2000"/>
            </a:pPr>
            <a:r>
              <a:t>&lt;p&gt;Age: {age}&lt;/p&gt;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with props</a:t>
            </a:r>
          </a:p>
        </p:txBody>
      </p:sp>
      <p:sp>
        <p:nvSpPr>
          <p:cNvPr id="3" name="Content Placeholder 2"/>
          <p:cNvSpPr>
            <a:spLocks noGrp="1"/>
          </p:cNvSpPr>
          <p:nvPr>
            <p:ph idx="1"/>
          </p:nvPr>
        </p:nvSpPr>
        <p:spPr/>
        <p:txBody>
          <a:bodyPr/>
          <a:lstStyle/>
          <a:p>
            <a:pPr>
              <a:defRPr sz="2000"/>
            </a:pPr>
            <a:r>
              <a:t>&lt;/div&gt;</a:t>
            </a:r>
          </a:p>
          <a:p>
            <a:pPr>
              <a:defRPr sz="2000"/>
            </a:pPr>
            <a:r>
              <a:t>);</a:t>
            </a:r>
          </a:p>
          <a:p>
            <a:pPr>
              <a:defRPr sz="2000"/>
            </a:pPr>
            <a:r>
              <a:t>}</a:t>
            </a:r>
          </a:p>
          <a:p>
            <a:pPr>
              <a:defRPr sz="2000"/>
            </a:pPr>
            <a:r>
              <a:t>Props make components reusable because the same component can show different data.</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with state</a:t>
            </a:r>
          </a:p>
        </p:txBody>
      </p:sp>
      <p:sp>
        <p:nvSpPr>
          <p:cNvPr id="3" name="Content Placeholder 2"/>
          <p:cNvSpPr>
            <a:spLocks noGrp="1"/>
          </p:cNvSpPr>
          <p:nvPr>
            <p:ph idx="1"/>
          </p:nvPr>
        </p:nvSpPr>
        <p:spPr/>
        <p:txBody>
          <a:bodyPr/>
          <a:lstStyle/>
          <a:p>
            <a:pPr>
              <a:defRPr sz="2000"/>
            </a:pPr>
            <a:r>
              <a:t>A component can store data that changes over time using state.</a:t>
            </a:r>
          </a:p>
          <a:p>
            <a:pPr>
              <a:defRPr sz="2000"/>
            </a:pPr>
            <a:r>
              <a:t>import { useState } from "react";</a:t>
            </a:r>
          </a:p>
          <a:p>
            <a:pPr>
              <a:defRPr sz="2000"/>
            </a:pPr>
            <a:r>
              <a:t>function Counter() {</a:t>
            </a:r>
          </a:p>
          <a:p>
            <a:pPr>
              <a:defRPr sz="2000"/>
            </a:pPr>
            <a:r>
              <a:t>const [count, setCount] = useState(0);</a:t>
            </a:r>
          </a:p>
          <a:p>
            <a:pPr>
              <a:defRPr sz="2000"/>
            </a:pPr>
            <a:r>
              <a:t>return (</a:t>
            </a:r>
          </a:p>
          <a:p>
            <a:pPr>
              <a:defRPr sz="2000"/>
            </a:pPr>
            <a:r>
              <a:t>&lt;button onClick={() =&gt; setCount(count + 1)}&gt;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with state</a:t>
            </a:r>
          </a:p>
        </p:txBody>
      </p:sp>
      <p:sp>
        <p:nvSpPr>
          <p:cNvPr id="3" name="Content Placeholder 2"/>
          <p:cNvSpPr>
            <a:spLocks noGrp="1"/>
          </p:cNvSpPr>
          <p:nvPr>
            <p:ph idx="1"/>
          </p:nvPr>
        </p:nvSpPr>
        <p:spPr/>
        <p:txBody>
          <a:bodyPr/>
          <a:lstStyle/>
          <a:p>
            <a:pPr>
              <a:defRPr sz="2000"/>
            </a:pPr>
            <a:r>
              <a:t>Count: {count}</a:t>
            </a:r>
          </a:p>
          <a:p>
            <a:pPr>
              <a:defRPr sz="2000"/>
            </a:pPr>
            <a:r>
              <a:t>&lt;/button&gt;</a:t>
            </a:r>
          </a:p>
          <a:p>
            <a:pPr>
              <a:defRPr sz="2000"/>
            </a:pPr>
            <a:r>
              <a:t>);</a:t>
            </a:r>
          </a:p>
          <a:p>
            <a:pPr>
              <a:defRPr sz="2000"/>
            </a:pPr>
            <a:r>
              <a:t>}</a:t>
            </a:r>
          </a:p>
          <a:p>
            <a:pPr>
              <a:defRPr sz="2000"/>
            </a:pPr>
            <a:r>
              <a:t>State lets components react to user actions, API data, and other changes in the app.</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components are so important</a:t>
            </a:r>
          </a:p>
        </p:txBody>
      </p:sp>
      <p:sp>
        <p:nvSpPr>
          <p:cNvPr id="3" name="Content Placeholder 2"/>
          <p:cNvSpPr>
            <a:spLocks noGrp="1"/>
          </p:cNvSpPr>
          <p:nvPr>
            <p:ph idx="1"/>
          </p:nvPr>
        </p:nvSpPr>
        <p:spPr/>
        <p:txBody>
          <a:bodyPr/>
          <a:lstStyle/>
          <a:p>
            <a:pPr>
              <a:defRPr sz="2000"/>
            </a:pPr>
            <a:r>
              <a:rPr dirty="0"/>
              <a:t>React is built around components, so understanding them is the foundation of learning React. They are important because they support:</a:t>
            </a:r>
          </a:p>
          <a:p>
            <a:pPr lvl="1">
              <a:defRPr sz="2000"/>
            </a:pPr>
            <a:r>
              <a:rPr dirty="0"/>
              <a:t>Reusability.</a:t>
            </a:r>
          </a:p>
          <a:p>
            <a:pPr lvl="1">
              <a:defRPr sz="2000"/>
            </a:pPr>
            <a:r>
              <a:rPr dirty="0"/>
              <a:t>Separation of concerns.</a:t>
            </a:r>
          </a:p>
          <a:p>
            <a:pPr lvl="1">
              <a:defRPr sz="2000"/>
            </a:pPr>
            <a:r>
              <a:rPr dirty="0"/>
              <a:t>Better maintainability.</a:t>
            </a:r>
          </a:p>
          <a:p>
            <a:pPr lvl="1">
              <a:defRPr sz="2000"/>
            </a:pPr>
            <a:r>
              <a:rPr dirty="0"/>
              <a:t>Easier scaling for larger apps.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component hierarchy</a:t>
            </a:r>
          </a:p>
        </p:txBody>
      </p:sp>
      <p:sp>
        <p:nvSpPr>
          <p:cNvPr id="3" name="Content Placeholder 2"/>
          <p:cNvSpPr>
            <a:spLocks noGrp="1"/>
          </p:cNvSpPr>
          <p:nvPr>
            <p:ph idx="1"/>
          </p:nvPr>
        </p:nvSpPr>
        <p:spPr/>
        <p:txBody>
          <a:bodyPr/>
          <a:lstStyle/>
          <a:p>
            <a:pPr>
              <a:defRPr sz="2000"/>
            </a:pPr>
            <a:r>
              <a:t>Components can be nested inside each other.</a:t>
            </a:r>
          </a:p>
          <a:p>
            <a:pPr>
              <a:defRPr sz="2000"/>
            </a:pPr>
            <a:r>
              <a:t>function App() {</a:t>
            </a:r>
          </a:p>
          <a:p>
            <a:pPr>
              <a:defRPr sz="2000"/>
            </a:pPr>
            <a:r>
              <a:t>return (</a:t>
            </a:r>
          </a:p>
          <a:p>
            <a:pPr>
              <a:defRPr sz="2000"/>
            </a:pPr>
            <a:r>
              <a:t>&lt;div&gt;</a:t>
            </a:r>
          </a:p>
          <a:p>
            <a:pPr>
              <a:defRPr sz="2000"/>
            </a:pPr>
            <a:r>
              <a:t>&lt;Header /&gt;</a:t>
            </a:r>
          </a:p>
          <a:p>
            <a:pPr>
              <a:defRPr sz="2000"/>
            </a:pPr>
            <a:r>
              <a:t>&lt;MainContent /&gt;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component hierarchy</a:t>
            </a:r>
          </a:p>
        </p:txBody>
      </p:sp>
      <p:sp>
        <p:nvSpPr>
          <p:cNvPr id="3" name="Content Placeholder 2"/>
          <p:cNvSpPr>
            <a:spLocks noGrp="1"/>
          </p:cNvSpPr>
          <p:nvPr>
            <p:ph idx="1"/>
          </p:nvPr>
        </p:nvSpPr>
        <p:spPr/>
        <p:txBody>
          <a:bodyPr/>
          <a:lstStyle/>
          <a:p>
            <a:pPr>
              <a:defRPr sz="2000"/>
            </a:pPr>
            <a:r>
              <a:t>&lt;Footer /&gt;</a:t>
            </a:r>
          </a:p>
          <a:p>
            <a:pPr>
              <a:defRPr sz="2000"/>
            </a:pPr>
            <a:r>
              <a:t>&lt;/div&gt;</a:t>
            </a:r>
          </a:p>
          <a:p>
            <a:pPr>
              <a:defRPr sz="2000"/>
            </a:pPr>
            <a:r>
              <a:t>);</a:t>
            </a:r>
          </a:p>
          <a:p>
            <a:pPr>
              <a:defRPr sz="2000"/>
            </a:pPr>
            <a:r>
              <a:t>}</a:t>
            </a:r>
          </a:p>
          <a:p>
            <a:pPr>
              <a:defRPr sz="2000"/>
            </a:pPr>
            <a:r>
              <a:t>This structure helps you build complex interfaces from small pieces.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Props</a:t>
            </a:r>
          </a:p>
        </p:txBody>
      </p:sp>
      <p:sp>
        <p:nvSpPr>
          <p:cNvPr id="3" name="Content Placeholder 2"/>
          <p:cNvSpPr>
            <a:spLocks noGrp="1"/>
          </p:cNvSpPr>
          <p:nvPr>
            <p:ph idx="1"/>
          </p:nvPr>
        </p:nvSpPr>
        <p:spPr/>
        <p:txBody>
          <a:bodyPr/>
          <a:lstStyle/>
          <a:p>
            <a:pPr>
              <a:defRPr sz="2200"/>
            </a:pPr>
            <a:r>
              <a:rPr dirty="0"/>
              <a:t>Props, short for properties, are the way React components receive data from</a:t>
            </a:r>
            <a:r>
              <a:rPr lang="en-US" dirty="0"/>
              <a:t> </a:t>
            </a:r>
            <a:r>
              <a:rPr dirty="0"/>
              <a:t>their parent component. </a:t>
            </a:r>
            <a:endParaRPr lang="en-US" dirty="0"/>
          </a:p>
          <a:p>
            <a:pPr>
              <a:defRPr sz="2200"/>
            </a:pPr>
            <a:r>
              <a:rPr dirty="0"/>
              <a:t>They are one of the most important ideas in React</a:t>
            </a:r>
            <a:br>
              <a:rPr dirty="0"/>
            </a:br>
            <a:r>
              <a:rPr dirty="0"/>
              <a:t>because they make components reusable and customizable.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props are</a:t>
            </a:r>
          </a:p>
        </p:txBody>
      </p:sp>
      <p:sp>
        <p:nvSpPr>
          <p:cNvPr id="3" name="Content Placeholder 2"/>
          <p:cNvSpPr>
            <a:spLocks noGrp="1"/>
          </p:cNvSpPr>
          <p:nvPr>
            <p:ph idx="1"/>
          </p:nvPr>
        </p:nvSpPr>
        <p:spPr/>
        <p:txBody>
          <a:bodyPr/>
          <a:lstStyle/>
          <a:p>
            <a:pPr>
              <a:defRPr sz="2200"/>
            </a:pPr>
            <a:r>
              <a:rPr dirty="0"/>
              <a:t>Think of props like function arguments in JavaScript. A parent component passes</a:t>
            </a:r>
            <a:r>
              <a:rPr lang="en-US" dirty="0"/>
              <a:t> </a:t>
            </a:r>
            <a:r>
              <a:rPr dirty="0"/>
              <a:t>values into a child component, and the child uses those values to display UI or</a:t>
            </a:r>
            <a:r>
              <a:rPr lang="en-US" dirty="0"/>
              <a:t> </a:t>
            </a:r>
            <a:r>
              <a:rPr dirty="0"/>
              <a:t>control behavior.</a:t>
            </a:r>
          </a:p>
          <a:p>
            <a:pPr>
              <a:defRPr sz="2200"/>
            </a:pPr>
            <a:r>
              <a:rPr dirty="0"/>
              <a:t>function Greeting(props) {</a:t>
            </a:r>
          </a:p>
          <a:p>
            <a:pPr>
              <a:defRPr sz="2200"/>
            </a:pPr>
            <a:r>
              <a:rPr dirty="0"/>
              <a:t>return &lt;h1&gt;Hello, {props.name}&lt;/h1&gt;;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help you:</a:t>
            </a:r>
          </a:p>
        </p:txBody>
      </p:sp>
      <p:sp>
        <p:nvSpPr>
          <p:cNvPr id="3" name="Content Placeholder 2"/>
          <p:cNvSpPr>
            <a:spLocks noGrp="1"/>
          </p:cNvSpPr>
          <p:nvPr>
            <p:ph idx="1"/>
          </p:nvPr>
        </p:nvSpPr>
        <p:spPr/>
        <p:txBody>
          <a:bodyPr/>
          <a:lstStyle/>
          <a:p>
            <a:pPr>
              <a:defRPr sz="2200"/>
            </a:pPr>
            <a:r>
              <a:rPr dirty="0"/>
              <a:t>Reuse the same component with different data.</a:t>
            </a:r>
          </a:p>
          <a:p>
            <a:pPr>
              <a:defRPr sz="2200"/>
            </a:pPr>
            <a:r>
              <a:rPr dirty="0"/>
              <a:t>Keep components flexible.</a:t>
            </a:r>
          </a:p>
          <a:p>
            <a:pPr>
              <a:defRPr sz="2200"/>
            </a:pPr>
            <a:r>
              <a:rPr dirty="0"/>
              <a:t>Pass data from parent to child.</a:t>
            </a:r>
          </a:p>
          <a:p>
            <a:pPr>
              <a:defRPr sz="2200"/>
            </a:pPr>
            <a:r>
              <a:rPr dirty="0"/>
              <a:t>Build dynamic UIs instead of hardcoding text.</a:t>
            </a:r>
          </a:p>
          <a:p>
            <a:pPr>
              <a:defRPr sz="2200"/>
            </a:pPr>
            <a:r>
              <a:rPr dirty="0"/>
              <a:t>Without props, you would need separate components for every variation of a UI</a:t>
            </a:r>
            <a:r>
              <a:rPr lang="en-US" dirty="0"/>
              <a:t> </a:t>
            </a:r>
            <a:r>
              <a:rPr dirty="0"/>
              <a:t>element.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props are passed</a:t>
            </a:r>
          </a:p>
        </p:txBody>
      </p:sp>
      <p:sp>
        <p:nvSpPr>
          <p:cNvPr id="3" name="Content Placeholder 2"/>
          <p:cNvSpPr>
            <a:spLocks noGrp="1"/>
          </p:cNvSpPr>
          <p:nvPr>
            <p:ph idx="1"/>
          </p:nvPr>
        </p:nvSpPr>
        <p:spPr/>
        <p:txBody>
          <a:bodyPr/>
          <a:lstStyle/>
          <a:p>
            <a:pPr>
              <a:defRPr sz="2200"/>
            </a:pPr>
            <a:r>
              <a:t>Props are passed when you use a component, just like HTML attributes.</a:t>
            </a:r>
          </a:p>
          <a:p>
            <a:pPr>
              <a:defRPr sz="2200"/>
            </a:pPr>
            <a:r>
              <a:t>function UserCard(props) {</a:t>
            </a:r>
          </a:p>
          <a:p>
            <a:pPr>
              <a:defRPr sz="2200"/>
            </a:pPr>
            <a:r>
              <a:t>return &lt;p&gt;{props.name} is {props.age} years old.&lt;/p&gt;;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rPr dirty="0"/>
              <a:t>function App() {</a:t>
            </a:r>
          </a:p>
          <a:p>
            <a:pPr>
              <a:defRPr sz="2200"/>
            </a:pPr>
            <a:r>
              <a:rPr dirty="0"/>
              <a:t>return &lt;</a:t>
            </a:r>
            <a:r>
              <a:rPr dirty="0" err="1"/>
              <a:t>UserCard</a:t>
            </a:r>
            <a:r>
              <a:rPr dirty="0"/>
              <a:t> name="Riya" age={22} /&gt;;</a:t>
            </a:r>
            <a:endParaRPr lang="en-US" dirty="0"/>
          </a:p>
          <a:p>
            <a:pPr>
              <a:defRPr sz="2200"/>
            </a:pPr>
            <a:r>
              <a:rPr lang="en-IN" dirty="0"/>
              <a:t>}</a:t>
            </a:r>
            <a:endParaRPr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rPr dirty="0"/>
              <a:t>Inside the component, React gives you one props object containing all the</a:t>
            </a:r>
            <a:r>
              <a:rPr lang="en-US" dirty="0"/>
              <a:t> </a:t>
            </a:r>
            <a:r>
              <a:rPr dirty="0"/>
              <a:t>values.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Destructuring props</a:t>
            </a:r>
          </a:p>
        </p:txBody>
      </p:sp>
      <p:sp>
        <p:nvSpPr>
          <p:cNvPr id="3" name="Content Placeholder 2"/>
          <p:cNvSpPr>
            <a:spLocks noGrp="1"/>
          </p:cNvSpPr>
          <p:nvPr>
            <p:ph idx="1"/>
          </p:nvPr>
        </p:nvSpPr>
        <p:spPr/>
        <p:txBody>
          <a:bodyPr/>
          <a:lstStyle/>
          <a:p>
            <a:pPr>
              <a:defRPr sz="2200"/>
            </a:pPr>
            <a:r>
              <a:t>A cleaner way is to destructure props directly in the function parameter.</a:t>
            </a:r>
          </a:p>
          <a:p>
            <a:pPr>
              <a:defRPr sz="2200"/>
            </a:pPr>
            <a:r>
              <a:t>function UserCard({ name, age }) {</a:t>
            </a:r>
          </a:p>
          <a:p>
            <a:pPr>
              <a:defRPr sz="2200"/>
            </a:pPr>
            <a:r>
              <a:t>return &lt;p&gt;{name} is {age} years old.&lt;/p&gt;;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can pass many kinds of data:</a:t>
            </a:r>
          </a:p>
        </p:txBody>
      </p:sp>
      <p:sp>
        <p:nvSpPr>
          <p:cNvPr id="3" name="Content Placeholder 2"/>
          <p:cNvSpPr>
            <a:spLocks noGrp="1"/>
          </p:cNvSpPr>
          <p:nvPr>
            <p:ph idx="1"/>
          </p:nvPr>
        </p:nvSpPr>
        <p:spPr/>
        <p:txBody>
          <a:bodyPr/>
          <a:lstStyle/>
          <a:p>
            <a:pPr>
              <a:defRPr sz="2200"/>
            </a:pPr>
            <a:r>
              <a:t>Strings.</a:t>
            </a:r>
          </a:p>
          <a:p>
            <a:pPr>
              <a:defRPr sz="2200"/>
            </a:pPr>
            <a:r>
              <a:t>Numbers.</a:t>
            </a:r>
          </a:p>
          <a:p>
            <a:pPr>
              <a:defRPr sz="2200"/>
            </a:pPr>
            <a:r>
              <a:t>Booleans.</a:t>
            </a:r>
          </a:p>
          <a:p>
            <a:pPr>
              <a:defRPr sz="2200"/>
            </a:pPr>
            <a:r>
              <a:t>Arrays.</a:t>
            </a:r>
          </a:p>
          <a:p>
            <a:pPr>
              <a:defRPr sz="2200"/>
            </a:pPr>
            <a:r>
              <a:t>Objects.</a:t>
            </a:r>
          </a:p>
          <a:p>
            <a:pPr>
              <a:defRPr sz="2200"/>
            </a:pPr>
            <a:r>
              <a:t>Functions.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can pass many kinds of data: (cont.)</a:t>
            </a:r>
          </a:p>
        </p:txBody>
      </p:sp>
      <p:sp>
        <p:nvSpPr>
          <p:cNvPr id="3" name="Content Placeholder 2"/>
          <p:cNvSpPr>
            <a:spLocks noGrp="1"/>
          </p:cNvSpPr>
          <p:nvPr>
            <p:ph idx="1"/>
          </p:nvPr>
        </p:nvSpPr>
        <p:spPr/>
        <p:txBody>
          <a:bodyPr/>
          <a:lstStyle/>
          <a:p>
            <a:pPr>
              <a:defRPr sz="2200"/>
            </a:pPr>
            <a:r>
              <a:t>JSX / children.</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Read-only nature of props</a:t>
            </a:r>
          </a:p>
        </p:txBody>
      </p:sp>
      <p:sp>
        <p:nvSpPr>
          <p:cNvPr id="3" name="Content Placeholder 2"/>
          <p:cNvSpPr>
            <a:spLocks noGrp="1"/>
          </p:cNvSpPr>
          <p:nvPr>
            <p:ph idx="1"/>
          </p:nvPr>
        </p:nvSpPr>
        <p:spPr/>
        <p:txBody>
          <a:bodyPr/>
          <a:lstStyle/>
          <a:p>
            <a:pPr>
              <a:defRPr sz="2200"/>
            </a:pPr>
            <a:r>
              <a:t>Props are read-only. A child component should not change the props it receives.</a:t>
            </a:r>
            <a:br/>
            <a:r>
              <a:t>If data needs to change, the change should happen in the parent or in state.</a:t>
            </a:r>
          </a:p>
          <a:p>
            <a:pPr>
              <a:defRPr sz="2200"/>
            </a:pPr>
            <a:r>
              <a:t>function UserCard({ name })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props.children</a:t>
            </a:r>
          </a:p>
        </p:txBody>
      </p:sp>
      <p:sp>
        <p:nvSpPr>
          <p:cNvPr id="3" name="Content Placeholder 2"/>
          <p:cNvSpPr>
            <a:spLocks noGrp="1"/>
          </p:cNvSpPr>
          <p:nvPr>
            <p:ph idx="1"/>
          </p:nvPr>
        </p:nvSpPr>
        <p:spPr/>
        <p:txBody>
          <a:bodyPr/>
          <a:lstStyle/>
          <a:p>
            <a:pPr>
              <a:defRPr sz="2200"/>
            </a:pPr>
            <a:r>
              <a:t>children is a special prop that lets you pass content inside a component.</a:t>
            </a:r>
          </a:p>
          <a:p>
            <a:pPr>
              <a:defRPr sz="2200"/>
            </a:pPr>
            <a:r>
              <a:t>function Box({ children }) {</a:t>
            </a:r>
          </a:p>
          <a:p>
            <a:pPr>
              <a:defRPr sz="2200"/>
            </a:pPr>
            <a:r>
              <a:t>return &lt;div&gt;{children}&lt;/div&gt;;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dirty="0"/>
          </a:p>
        </p:txBody>
      </p:sp>
      <p:sp>
        <p:nvSpPr>
          <p:cNvPr id="3" name="Content Placeholder 2"/>
          <p:cNvSpPr>
            <a:spLocks noGrp="1"/>
          </p:cNvSpPr>
          <p:nvPr>
            <p:ph idx="1"/>
          </p:nvPr>
        </p:nvSpPr>
        <p:spPr/>
        <p:txBody>
          <a:bodyPr/>
          <a:lstStyle/>
          <a:p>
            <a:pPr>
              <a:defRPr sz="2200"/>
            </a:pPr>
            <a:r>
              <a:t>function App() {</a:t>
            </a:r>
          </a:p>
          <a:p>
            <a:pPr>
              <a:defRPr sz="2200"/>
            </a:pPr>
            <a:r>
              <a:t>return (</a:t>
            </a:r>
          </a:p>
          <a:p>
            <a:pPr>
              <a:defRPr sz="2200"/>
            </a:pPr>
            <a:r>
              <a:t>&lt;Box&gt;</a:t>
            </a:r>
          </a:p>
          <a:p>
            <a:pPr>
              <a:defRPr sz="2200"/>
            </a:pPr>
            <a:r>
              <a:t>&lt;h1&gt;Hello&lt;/h1&gt;</a:t>
            </a:r>
          </a:p>
          <a:p>
            <a:pPr>
              <a:defRPr sz="2200"/>
            </a:pPr>
            <a:r>
              <a:t>&lt;p&gt;This is inside Box&lt;/p&gt;</a:t>
            </a:r>
          </a:p>
          <a:p>
            <a:pPr>
              <a:defRPr sz="2200"/>
            </a:pPr>
            <a:r>
              <a:t>&lt;/Box&gt;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This is useful for layout and wrapper components.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Default props / fallback values</a:t>
            </a:r>
          </a:p>
        </p:txBody>
      </p:sp>
      <p:sp>
        <p:nvSpPr>
          <p:cNvPr id="3" name="Content Placeholder 2"/>
          <p:cNvSpPr>
            <a:spLocks noGrp="1"/>
          </p:cNvSpPr>
          <p:nvPr>
            <p:ph idx="1"/>
          </p:nvPr>
        </p:nvSpPr>
        <p:spPr/>
        <p:txBody>
          <a:bodyPr/>
          <a:lstStyle/>
          <a:p>
            <a:pPr>
              <a:defRPr sz="2200"/>
            </a:pPr>
            <a:r>
              <a:t>If a prop is missing, you can provide a default value.</a:t>
            </a:r>
          </a:p>
          <a:p>
            <a:pPr>
              <a:defRPr sz="2200"/>
            </a:pPr>
            <a:r>
              <a:t>function Greeting({ name = "Guest" }) {</a:t>
            </a:r>
          </a:p>
          <a:p>
            <a:pPr>
              <a:defRPr sz="2200"/>
            </a:pPr>
            <a:r>
              <a:t>return &lt;h1&gt;Hello, {name}&lt;/h1&gt;;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This avoids showing undefined in the UI.</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vs state</a:t>
            </a:r>
          </a:p>
        </p:txBody>
      </p:sp>
      <p:sp>
        <p:nvSpPr>
          <p:cNvPr id="3" name="Content Placeholder 2"/>
          <p:cNvSpPr>
            <a:spLocks noGrp="1"/>
          </p:cNvSpPr>
          <p:nvPr>
            <p:ph idx="1"/>
          </p:nvPr>
        </p:nvSpPr>
        <p:spPr/>
        <p:txBody>
          <a:bodyPr/>
          <a:lstStyle/>
          <a:p>
            <a:pPr>
              <a:defRPr sz="2200"/>
            </a:pPr>
            <a:r>
              <a:t>Props come from outside the component and are read-only.</a:t>
            </a:r>
          </a:p>
          <a:p>
            <a:pPr>
              <a:defRPr sz="2200"/>
            </a:pPr>
            <a:r>
              <a:t>State belongs to the component and can change over time.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way to remember:</a:t>
            </a:r>
          </a:p>
        </p:txBody>
      </p:sp>
      <p:sp>
        <p:nvSpPr>
          <p:cNvPr id="3" name="Content Placeholder 2"/>
          <p:cNvSpPr>
            <a:spLocks noGrp="1"/>
          </p:cNvSpPr>
          <p:nvPr>
            <p:ph idx="1"/>
          </p:nvPr>
        </p:nvSpPr>
        <p:spPr/>
        <p:txBody>
          <a:bodyPr/>
          <a:lstStyle/>
          <a:p>
            <a:pPr>
              <a:defRPr sz="2200"/>
            </a:pPr>
            <a:r>
              <a:t>Props = inputs.</a:t>
            </a:r>
          </a:p>
          <a:p>
            <a:pPr>
              <a:defRPr sz="2200"/>
            </a:pPr>
            <a:r>
              <a:t>State = internal memory.</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props matter so much</a:t>
            </a:r>
          </a:p>
        </p:txBody>
      </p:sp>
      <p:sp>
        <p:nvSpPr>
          <p:cNvPr id="3" name="Content Placeholder 2"/>
          <p:cNvSpPr>
            <a:spLocks noGrp="1"/>
          </p:cNvSpPr>
          <p:nvPr>
            <p:ph idx="1"/>
          </p:nvPr>
        </p:nvSpPr>
        <p:spPr/>
        <p:txBody>
          <a:bodyPr/>
          <a:lstStyle/>
          <a:p>
            <a:pPr>
              <a:defRPr sz="2200"/>
            </a:pPr>
            <a:r>
              <a:t>Props are the foundation of component communication in React. They let you build</a:t>
            </a:r>
            <a:br/>
            <a:r>
              <a:t>small reusable pieces and connect them together cleanly, which is why almost</a:t>
            </a:r>
            <a:br/>
            <a:r>
              <a:t>every React app uses them heavily.</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State</a:t>
            </a:r>
          </a:p>
        </p:txBody>
      </p:sp>
      <p:sp>
        <p:nvSpPr>
          <p:cNvPr id="3" name="Content Placeholder 2"/>
          <p:cNvSpPr>
            <a:spLocks noGrp="1"/>
          </p:cNvSpPr>
          <p:nvPr>
            <p:ph idx="1"/>
          </p:nvPr>
        </p:nvSpPr>
        <p:spPr/>
        <p:txBody>
          <a:bodyPr/>
          <a:lstStyle/>
          <a:p>
            <a:pPr>
              <a:defRPr sz="2200"/>
            </a:pPr>
            <a:r>
              <a:rPr dirty="0"/>
              <a:t>State is the </a:t>
            </a:r>
            <a:r>
              <a:rPr lang="en-IN" u="sng" dirty="0"/>
              <a:t>memory of a component</a:t>
            </a:r>
            <a:r>
              <a:rPr dirty="0"/>
              <a:t>. It is data that can change over time and</a:t>
            </a:r>
            <a:r>
              <a:rPr lang="en-US" dirty="0"/>
              <a:t> </a:t>
            </a:r>
            <a:r>
              <a:rPr dirty="0"/>
              <a:t>cause the UI to update automatically when it changes.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state is</a:t>
            </a:r>
          </a:p>
        </p:txBody>
      </p:sp>
      <p:sp>
        <p:nvSpPr>
          <p:cNvPr id="3" name="Content Placeholder 2"/>
          <p:cNvSpPr>
            <a:spLocks noGrp="1"/>
          </p:cNvSpPr>
          <p:nvPr>
            <p:ph idx="1"/>
          </p:nvPr>
        </p:nvSpPr>
        <p:spPr/>
        <p:txBody>
          <a:bodyPr/>
          <a:lstStyle/>
          <a:p>
            <a:pPr>
              <a:defRPr sz="2200"/>
            </a:pPr>
            <a:r>
              <a:rPr dirty="0"/>
              <a:t>State is used to store values that belong to a component, such as:</a:t>
            </a:r>
          </a:p>
          <a:p>
            <a:pPr>
              <a:defRPr sz="2200"/>
            </a:pPr>
            <a:r>
              <a:rPr dirty="0"/>
              <a:t>Counter values.</a:t>
            </a:r>
          </a:p>
          <a:p>
            <a:pPr>
              <a:defRPr sz="2200"/>
            </a:pPr>
            <a:r>
              <a:rPr dirty="0"/>
              <a:t>Input text.</a:t>
            </a:r>
          </a:p>
          <a:p>
            <a:pPr>
              <a:defRPr sz="2200"/>
            </a:pPr>
            <a:r>
              <a:rPr dirty="0"/>
              <a:t>Toggle on/off values.</a:t>
            </a:r>
          </a:p>
          <a:p>
            <a:pPr>
              <a:defRPr sz="2200"/>
            </a:pPr>
            <a:r>
              <a:rPr dirty="0"/>
              <a:t>Fetched data.</a:t>
            </a:r>
          </a:p>
          <a:p>
            <a:pPr>
              <a:defRPr sz="2200"/>
            </a:pPr>
            <a:r>
              <a:rPr dirty="0"/>
              <a:t>Selected items.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state is (cont.)</a:t>
            </a:r>
          </a:p>
        </p:txBody>
      </p:sp>
      <p:sp>
        <p:nvSpPr>
          <p:cNvPr id="3" name="Content Placeholder 2"/>
          <p:cNvSpPr>
            <a:spLocks noGrp="1"/>
          </p:cNvSpPr>
          <p:nvPr>
            <p:ph idx="1"/>
          </p:nvPr>
        </p:nvSpPr>
        <p:spPr/>
        <p:txBody>
          <a:bodyPr/>
          <a:lstStyle/>
          <a:p>
            <a:pPr>
              <a:defRPr sz="2200"/>
            </a:pPr>
            <a:r>
              <a:t>Unlike regular variables, state is tied to React’s rendering process, so when</a:t>
            </a:r>
            <a:br/>
            <a:r>
              <a:t>state changes, the component re-renders.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state is needed</a:t>
            </a:r>
          </a:p>
        </p:txBody>
      </p:sp>
      <p:sp>
        <p:nvSpPr>
          <p:cNvPr id="3" name="Content Placeholder 2"/>
          <p:cNvSpPr>
            <a:spLocks noGrp="1"/>
          </p:cNvSpPr>
          <p:nvPr>
            <p:ph idx="1"/>
          </p:nvPr>
        </p:nvSpPr>
        <p:spPr/>
        <p:txBody>
          <a:bodyPr/>
          <a:lstStyle/>
          <a:p>
            <a:pPr>
              <a:defRPr sz="2200"/>
            </a:pPr>
            <a:r>
              <a:rPr dirty="0"/>
              <a:t>Without state, the UI would not reliably reflect changing data. State lets React</a:t>
            </a:r>
            <a:r>
              <a:rPr lang="en-US" dirty="0"/>
              <a:t> </a:t>
            </a:r>
            <a:r>
              <a:rPr dirty="0"/>
              <a:t>keep the screen in sync with user actions and other updates.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For example:</a:t>
            </a:r>
          </a:p>
        </p:txBody>
      </p:sp>
      <p:sp>
        <p:nvSpPr>
          <p:cNvPr id="3" name="Content Placeholder 2"/>
          <p:cNvSpPr>
            <a:spLocks noGrp="1"/>
          </p:cNvSpPr>
          <p:nvPr>
            <p:ph idx="1"/>
          </p:nvPr>
        </p:nvSpPr>
        <p:spPr/>
        <p:txBody>
          <a:bodyPr/>
          <a:lstStyle/>
          <a:p>
            <a:pPr>
              <a:defRPr sz="2200"/>
            </a:pPr>
            <a:r>
              <a:t>Clicking a button increments a count.</a:t>
            </a:r>
          </a:p>
          <a:p>
            <a:pPr>
              <a:defRPr sz="2200"/>
            </a:pPr>
            <a:r>
              <a:t>Typing into a form updates the input field.</a:t>
            </a:r>
          </a:p>
          <a:p>
            <a:pPr>
              <a:defRPr sz="2200"/>
            </a:pPr>
            <a:r>
              <a:t>Opening a modal changes its visibility.</a:t>
            </a:r>
          </a:p>
          <a:p>
            <a:pPr>
              <a:defRPr sz="2200"/>
            </a:pPr>
            <a:r>
              <a:t>Loading data updates, the page once the response arrives.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State vs regular variables</a:t>
            </a:r>
          </a:p>
        </p:txBody>
      </p:sp>
      <p:sp>
        <p:nvSpPr>
          <p:cNvPr id="3" name="Content Placeholder 2"/>
          <p:cNvSpPr>
            <a:spLocks noGrp="1"/>
          </p:cNvSpPr>
          <p:nvPr>
            <p:ph idx="1"/>
          </p:nvPr>
        </p:nvSpPr>
        <p:spPr/>
        <p:txBody>
          <a:bodyPr/>
          <a:lstStyle/>
          <a:p>
            <a:pPr>
              <a:defRPr sz="2200"/>
            </a:pPr>
            <a:r>
              <a:rPr dirty="0"/>
              <a:t>A normal JavaScript variable does not trigger a re-render when changed. State</a:t>
            </a:r>
            <a:r>
              <a:rPr lang="en-US" dirty="0"/>
              <a:t> </a:t>
            </a:r>
            <a:r>
              <a:rPr dirty="0"/>
              <a:t>does. That is the main difference.</a:t>
            </a:r>
          </a:p>
          <a:p>
            <a:pPr>
              <a:defRPr sz="2200"/>
            </a:pPr>
            <a:r>
              <a:rPr dirty="0"/>
              <a:t>import { </a:t>
            </a:r>
            <a:r>
              <a:rPr dirty="0" err="1"/>
              <a:t>useState</a:t>
            </a:r>
            <a:r>
              <a:rPr dirty="0"/>
              <a:t> } from "react";</a:t>
            </a:r>
          </a:p>
          <a:p>
            <a:pPr>
              <a:defRPr sz="2200"/>
            </a:pPr>
            <a:r>
              <a:rPr dirty="0"/>
              <a:t>function Counter() {</a:t>
            </a:r>
          </a:p>
          <a:p>
            <a:pPr>
              <a:defRPr sz="2200"/>
            </a:pPr>
            <a:r>
              <a:rPr dirty="0"/>
              <a:t>const [count, </a:t>
            </a:r>
            <a:r>
              <a:rPr dirty="0" err="1"/>
              <a:t>setCount</a:t>
            </a:r>
            <a:r>
              <a:rPr dirty="0"/>
              <a:t>] = </a:t>
            </a:r>
            <a:r>
              <a:rPr dirty="0" err="1"/>
              <a:t>useState</a:t>
            </a:r>
            <a:r>
              <a:rPr dirty="0"/>
              <a:t>(0);</a:t>
            </a:r>
          </a:p>
          <a:p>
            <a:pPr>
              <a:defRPr sz="2200"/>
            </a:pPr>
            <a:r>
              <a:rPr dirty="0"/>
              <a:t>return &lt;button </a:t>
            </a:r>
            <a:r>
              <a:rPr dirty="0" err="1"/>
              <a:t>onClick</a:t>
            </a:r>
            <a:r>
              <a:rPr dirty="0"/>
              <a:t>={() =&gt; </a:t>
            </a:r>
            <a:r>
              <a:rPr dirty="0" err="1"/>
              <a:t>setCount</a:t>
            </a:r>
            <a:r>
              <a:rPr dirty="0"/>
              <a:t>(count + 1)}&gt;{count}&lt;/button&gt;;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rPr dirty="0"/>
              <a:t>If count were just a normal variable, the UI would not update properly after</a:t>
            </a:r>
            <a:r>
              <a:rPr lang="en-US" dirty="0"/>
              <a:t> </a:t>
            </a:r>
            <a:r>
              <a:rPr dirty="0"/>
              <a:t>clicking.</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useState hook</a:t>
            </a:r>
          </a:p>
        </p:txBody>
      </p:sp>
      <p:sp>
        <p:nvSpPr>
          <p:cNvPr id="3" name="Content Placeholder 2"/>
          <p:cNvSpPr>
            <a:spLocks noGrp="1"/>
          </p:cNvSpPr>
          <p:nvPr>
            <p:ph idx="1"/>
          </p:nvPr>
        </p:nvSpPr>
        <p:spPr/>
        <p:txBody>
          <a:bodyPr/>
          <a:lstStyle/>
          <a:p>
            <a:pPr>
              <a:defRPr sz="2200"/>
            </a:pPr>
            <a:r>
              <a:t>In functional components, state is usually handled with useState.</a:t>
            </a:r>
          </a:p>
          <a:p>
            <a:pPr>
              <a:defRPr sz="2200"/>
            </a:pPr>
            <a:r>
              <a:t>const [count, setCount] = useState(0);</a:t>
            </a:r>
          </a:p>
          <a:p>
            <a:pPr>
              <a:defRPr sz="2200"/>
            </a:pPr>
            <a:r>
              <a:t>count is the current state value.</a:t>
            </a:r>
          </a:p>
          <a:p>
            <a:pPr>
              <a:defRPr sz="2200"/>
            </a:pPr>
            <a:r>
              <a:t>setCount is the function used to update it.</a:t>
            </a:r>
          </a:p>
          <a:p>
            <a:pPr>
              <a:defRPr sz="2200"/>
            </a:pPr>
            <a:r>
              <a:t>0 is the initial value.</a:t>
            </a:r>
          </a:p>
          <a:p>
            <a:pPr>
              <a:defRPr sz="2200"/>
            </a:pPr>
            <a:r>
              <a:t>This is the standard pattern in modern React.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state updates work</a:t>
            </a:r>
          </a:p>
        </p:txBody>
      </p:sp>
      <p:sp>
        <p:nvSpPr>
          <p:cNvPr id="3" name="Content Placeholder 2"/>
          <p:cNvSpPr>
            <a:spLocks noGrp="1"/>
          </p:cNvSpPr>
          <p:nvPr>
            <p:ph idx="1"/>
          </p:nvPr>
        </p:nvSpPr>
        <p:spPr/>
        <p:txBody>
          <a:bodyPr/>
          <a:lstStyle/>
          <a:p>
            <a:pPr>
              <a:defRPr sz="2200"/>
            </a:pPr>
            <a:r>
              <a:t>You should not change state directly. Instead, always use the updater function.</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React uses the update to know that the component should re-render.</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can store almost any value:</a:t>
            </a:r>
          </a:p>
        </p:txBody>
      </p:sp>
      <p:sp>
        <p:nvSpPr>
          <p:cNvPr id="3" name="Content Placeholder 2"/>
          <p:cNvSpPr>
            <a:spLocks noGrp="1"/>
          </p:cNvSpPr>
          <p:nvPr>
            <p:ph idx="1"/>
          </p:nvPr>
        </p:nvSpPr>
        <p:spPr/>
        <p:txBody>
          <a:bodyPr/>
          <a:lstStyle/>
          <a:p>
            <a:pPr>
              <a:defRPr sz="2200"/>
            </a:pPr>
            <a:r>
              <a:t>Numbers.</a:t>
            </a:r>
          </a:p>
          <a:p>
            <a:pPr>
              <a:defRPr sz="2200"/>
            </a:pPr>
            <a:r>
              <a:t>Strings.</a:t>
            </a:r>
          </a:p>
          <a:p>
            <a:pPr>
              <a:defRPr sz="2200"/>
            </a:pPr>
            <a:r>
              <a:t>Booleans.</a:t>
            </a:r>
          </a:p>
          <a:p>
            <a:pPr>
              <a:defRPr sz="2200"/>
            </a:pPr>
            <a:r>
              <a:t>Arrays.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Examples:</a:t>
            </a:r>
          </a:p>
        </p:txBody>
      </p:sp>
      <p:sp>
        <p:nvSpPr>
          <p:cNvPr id="3" name="Content Placeholder 2"/>
          <p:cNvSpPr>
            <a:spLocks noGrp="1"/>
          </p:cNvSpPr>
          <p:nvPr>
            <p:ph idx="1"/>
          </p:nvPr>
        </p:nvSpPr>
        <p:spPr/>
        <p:txBody>
          <a:bodyPr/>
          <a:lstStyle/>
          <a:p>
            <a:pPr>
              <a:defRPr sz="2200"/>
            </a:pPr>
            <a:r>
              <a:t>const [name, setName] = useState("");</a:t>
            </a:r>
          </a:p>
          <a:p>
            <a:pPr>
              <a:defRPr sz="2200"/>
            </a:pPr>
            <a:r>
              <a:t>const [isOpen, setIsOpen] = useState(false);</a:t>
            </a:r>
          </a:p>
          <a:p>
            <a:pPr>
              <a:defRPr sz="2200"/>
            </a:pPr>
            <a:r>
              <a:t>const [items, setItems] = useState([]);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is used in many interactive UI features:</a:t>
            </a:r>
          </a:p>
        </p:txBody>
      </p:sp>
      <p:sp>
        <p:nvSpPr>
          <p:cNvPr id="3" name="Content Placeholder 2"/>
          <p:cNvSpPr>
            <a:spLocks noGrp="1"/>
          </p:cNvSpPr>
          <p:nvPr>
            <p:ph idx="1"/>
          </p:nvPr>
        </p:nvSpPr>
        <p:spPr/>
        <p:txBody>
          <a:bodyPr>
            <a:normAutofit lnSpcReduction="10000"/>
          </a:bodyPr>
          <a:lstStyle/>
          <a:p>
            <a:pPr>
              <a:defRPr sz="2200"/>
            </a:pPr>
            <a:r>
              <a:rPr dirty="0"/>
              <a:t>Counters.</a:t>
            </a:r>
          </a:p>
          <a:p>
            <a:pPr>
              <a:defRPr sz="2200"/>
            </a:pPr>
            <a:r>
              <a:rPr dirty="0"/>
              <a:t>Form inputs.</a:t>
            </a:r>
          </a:p>
          <a:p>
            <a:pPr>
              <a:defRPr sz="2200"/>
            </a:pPr>
            <a:r>
              <a:rPr dirty="0"/>
              <a:t>Toggle switches.</a:t>
            </a:r>
          </a:p>
          <a:p>
            <a:pPr>
              <a:defRPr sz="2200"/>
            </a:pPr>
            <a:r>
              <a:rPr dirty="0"/>
              <a:t>Tabs and dropdowns.</a:t>
            </a:r>
          </a:p>
          <a:p>
            <a:pPr>
              <a:defRPr sz="2200"/>
            </a:pPr>
            <a:r>
              <a:rPr dirty="0"/>
              <a:t>Modals.</a:t>
            </a:r>
          </a:p>
          <a:p>
            <a:pPr>
              <a:defRPr sz="2200"/>
            </a:pPr>
            <a:r>
              <a:rPr dirty="0"/>
              <a:t>Shopping carts.</a:t>
            </a:r>
            <a:endParaRPr lang="en-US" dirty="0"/>
          </a:p>
          <a:p>
            <a:pPr>
              <a:defRPr sz="2200"/>
            </a:pPr>
            <a:r>
              <a:rPr lang="en-IN" dirty="0"/>
              <a:t>API data loading.</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state changes:</a:t>
            </a:r>
          </a:p>
        </p:txBody>
      </p:sp>
      <p:sp>
        <p:nvSpPr>
          <p:cNvPr id="3" name="Content Placeholder 2"/>
          <p:cNvSpPr>
            <a:spLocks noGrp="1"/>
          </p:cNvSpPr>
          <p:nvPr>
            <p:ph idx="1"/>
          </p:nvPr>
        </p:nvSpPr>
        <p:spPr/>
        <p:txBody>
          <a:bodyPr/>
          <a:lstStyle/>
          <a:p>
            <a:pPr>
              <a:defRPr sz="2200"/>
            </a:pPr>
            <a:r>
              <a:t>React updates the stored value.</a:t>
            </a:r>
          </a:p>
          <a:p>
            <a:pPr>
              <a:defRPr sz="2200"/>
            </a:pPr>
            <a:r>
              <a:t>React re-renders the component.</a:t>
            </a:r>
          </a:p>
          <a:p>
            <a:pPr>
              <a:defRPr sz="2200"/>
            </a:pPr>
            <a:r>
              <a:t>The UI shows the new data.</a:t>
            </a:r>
          </a:p>
          <a:p>
            <a:pPr>
              <a:defRPr sz="2200"/>
            </a:pPr>
            <a:r>
              <a:t>This is one of the core ideas behind React’s dynamic behavior.</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is local</a:t>
            </a:r>
          </a:p>
        </p:txBody>
      </p:sp>
      <p:sp>
        <p:nvSpPr>
          <p:cNvPr id="3" name="Content Placeholder 2"/>
          <p:cNvSpPr>
            <a:spLocks noGrp="1"/>
          </p:cNvSpPr>
          <p:nvPr>
            <p:ph idx="1"/>
          </p:nvPr>
        </p:nvSpPr>
        <p:spPr/>
        <p:txBody>
          <a:bodyPr/>
          <a:lstStyle/>
          <a:p>
            <a:pPr>
              <a:defRPr sz="2200"/>
            </a:pPr>
            <a:r>
              <a:rPr dirty="0"/>
              <a:t>State belongs to a specific component. If you render the same component multiple</a:t>
            </a:r>
            <a:r>
              <a:rPr lang="en-US" dirty="0"/>
              <a:t> </a:t>
            </a:r>
            <a:r>
              <a:rPr dirty="0"/>
              <a:t>times, each instance can have its own separate state.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vs props</a:t>
            </a:r>
          </a:p>
        </p:txBody>
      </p:sp>
      <p:sp>
        <p:nvSpPr>
          <p:cNvPr id="3" name="Content Placeholder 2"/>
          <p:cNvSpPr>
            <a:spLocks noGrp="1"/>
          </p:cNvSpPr>
          <p:nvPr>
            <p:ph idx="1"/>
          </p:nvPr>
        </p:nvSpPr>
        <p:spPr/>
        <p:txBody>
          <a:bodyPr/>
          <a:lstStyle/>
          <a:p>
            <a:pPr>
              <a:defRPr sz="2200"/>
            </a:pPr>
            <a:r>
              <a:rPr dirty="0"/>
              <a:t>Props come from the parent and are read-only.</a:t>
            </a:r>
          </a:p>
          <a:p>
            <a:pPr>
              <a:defRPr sz="2200"/>
            </a:pPr>
            <a:r>
              <a:rPr dirty="0"/>
              <a:t>State belongs to the component and can change.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memory trick:</a:t>
            </a:r>
          </a:p>
        </p:txBody>
      </p:sp>
      <p:sp>
        <p:nvSpPr>
          <p:cNvPr id="3" name="Content Placeholder 2"/>
          <p:cNvSpPr>
            <a:spLocks noGrp="1"/>
          </p:cNvSpPr>
          <p:nvPr>
            <p:ph idx="1"/>
          </p:nvPr>
        </p:nvSpPr>
        <p:spPr/>
        <p:txBody>
          <a:bodyPr/>
          <a:lstStyle/>
          <a:p>
            <a:pPr>
              <a:defRPr sz="2200"/>
            </a:pPr>
            <a:r>
              <a:rPr dirty="0"/>
              <a:t>Props = passed in.</a:t>
            </a:r>
          </a:p>
          <a:p>
            <a:pPr>
              <a:defRPr sz="2200"/>
            </a:pPr>
            <a:r>
              <a:rPr dirty="0"/>
              <a:t>State = managed inside.</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with input state</a:t>
            </a:r>
          </a:p>
        </p:txBody>
      </p:sp>
      <p:sp>
        <p:nvSpPr>
          <p:cNvPr id="3" name="Content Placeholder 2"/>
          <p:cNvSpPr>
            <a:spLocks noGrp="1"/>
          </p:cNvSpPr>
          <p:nvPr>
            <p:ph idx="1"/>
          </p:nvPr>
        </p:nvSpPr>
        <p:spPr/>
        <p:txBody>
          <a:bodyPr/>
          <a:lstStyle/>
          <a:p>
            <a:pPr>
              <a:defRPr sz="2200"/>
            </a:pPr>
            <a:r>
              <a:t>import { useState } from "react";</a:t>
            </a:r>
          </a:p>
          <a:p>
            <a:pPr>
              <a:defRPr sz="2200"/>
            </a:pPr>
            <a:r>
              <a:t>function NameForm() {</a:t>
            </a:r>
          </a:p>
          <a:p>
            <a:pPr>
              <a:defRPr sz="2200"/>
            </a:pPr>
            <a:r>
              <a:t>const [name, setName] = useState("");</a:t>
            </a:r>
          </a:p>
          <a:p>
            <a:pPr>
              <a:defRPr sz="2200"/>
            </a:pPr>
            <a:r>
              <a:t>return (</a:t>
            </a:r>
          </a:p>
          <a:p>
            <a:pPr>
              <a:defRPr sz="2200"/>
            </a:pPr>
            <a:r>
              <a:t>&lt;div&gt;</a:t>
            </a:r>
          </a:p>
          <a:p>
            <a:pPr>
              <a:defRPr sz="2200"/>
            </a:pPr>
            <a:r>
              <a:t>&lt;input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/&gt;</a:t>
            </a:r>
          </a:p>
        </p:txBody>
      </p:sp>
      <p:sp>
        <p:nvSpPr>
          <p:cNvPr id="3" name="Content Placeholder 2"/>
          <p:cNvSpPr>
            <a:spLocks noGrp="1"/>
          </p:cNvSpPr>
          <p:nvPr>
            <p:ph idx="1"/>
          </p:nvPr>
        </p:nvSpPr>
        <p:spPr/>
        <p:txBody>
          <a:bodyPr/>
          <a:lstStyle/>
          <a:p>
            <a:pPr>
              <a:defRPr sz="2200"/>
            </a:pPr>
            <a:r>
              <a:t>&lt;p&gt;Hello, {name}&lt;/p&gt;</a:t>
            </a:r>
          </a:p>
          <a:p>
            <a:pPr>
              <a:defRPr sz="2200"/>
            </a:pPr>
            <a:r>
              <a:t>&lt;/div&gt;</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with toggle state</a:t>
            </a:r>
          </a:p>
        </p:txBody>
      </p:sp>
      <p:sp>
        <p:nvSpPr>
          <p:cNvPr id="3" name="Content Placeholder 2"/>
          <p:cNvSpPr>
            <a:spLocks noGrp="1"/>
          </p:cNvSpPr>
          <p:nvPr>
            <p:ph idx="1"/>
          </p:nvPr>
        </p:nvSpPr>
        <p:spPr/>
        <p:txBody>
          <a:bodyPr/>
          <a:lstStyle/>
          <a:p>
            <a:pPr>
              <a:defRPr sz="2200"/>
            </a:pPr>
            <a:r>
              <a:t>import { useState } from "react";</a:t>
            </a:r>
          </a:p>
          <a:p>
            <a:pPr>
              <a:defRPr sz="2200"/>
            </a:pPr>
            <a:r>
              <a:t>function ToggleText() {</a:t>
            </a:r>
          </a:p>
          <a:p>
            <a:pPr>
              <a:defRPr sz="2200"/>
            </a:pPr>
            <a:r>
              <a:t>const [show, setShow] = useState(true);</a:t>
            </a:r>
          </a:p>
          <a:p>
            <a:pPr>
              <a:defRPr sz="2200"/>
            </a:pPr>
            <a:r>
              <a:t>return (</a:t>
            </a:r>
          </a:p>
          <a:p>
            <a:pPr>
              <a:defRPr sz="2200"/>
            </a:pPr>
            <a:r>
              <a:t>&lt;div&gt;</a:t>
            </a:r>
          </a:p>
          <a:p>
            <a:pPr>
              <a:defRPr sz="2200"/>
            </a:pPr>
            <a:r>
              <a:t>&lt;button onClick={() =&gt; setShow(!show)}&gt;Toggle&lt;/button&gt;</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state is important in React</a:t>
            </a:r>
          </a:p>
        </p:txBody>
      </p:sp>
      <p:sp>
        <p:nvSpPr>
          <p:cNvPr id="3" name="Content Placeholder 2"/>
          <p:cNvSpPr>
            <a:spLocks noGrp="1"/>
          </p:cNvSpPr>
          <p:nvPr>
            <p:ph idx="1"/>
          </p:nvPr>
        </p:nvSpPr>
        <p:spPr/>
        <p:txBody>
          <a:bodyPr/>
          <a:lstStyle/>
          <a:p>
            <a:pPr>
              <a:defRPr sz="2200"/>
            </a:pPr>
            <a:r>
              <a:rPr dirty="0"/>
              <a:t>State is one of the most important React concepts because it powers</a:t>
            </a:r>
            <a:br>
              <a:rPr dirty="0"/>
            </a:br>
            <a:r>
              <a:rPr dirty="0"/>
              <a:t>interactivity and dynamic rendering. </a:t>
            </a:r>
            <a:endParaRPr lang="en-US" dirty="0"/>
          </a:p>
          <a:p>
            <a:pPr>
              <a:defRPr sz="2200"/>
            </a:pPr>
            <a:r>
              <a:rPr dirty="0"/>
              <a:t>Once you understand state, many React</a:t>
            </a:r>
            <a:r>
              <a:rPr lang="en-US" dirty="0"/>
              <a:t> </a:t>
            </a:r>
            <a:r>
              <a:rPr dirty="0"/>
              <a:t>features become much easier to learn.</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Event Handling</a:t>
            </a:r>
          </a:p>
        </p:txBody>
      </p:sp>
      <p:sp>
        <p:nvSpPr>
          <p:cNvPr id="3" name="Content Placeholder 2"/>
          <p:cNvSpPr>
            <a:spLocks noGrp="1"/>
          </p:cNvSpPr>
          <p:nvPr>
            <p:ph idx="1"/>
          </p:nvPr>
        </p:nvSpPr>
        <p:spPr/>
        <p:txBody>
          <a:bodyPr/>
          <a:lstStyle/>
          <a:p>
            <a:pPr>
              <a:defRPr sz="2200"/>
            </a:pPr>
            <a:r>
              <a:rPr dirty="0"/>
              <a:t>Event handling in React is how your components respond to user actions like</a:t>
            </a:r>
            <a:r>
              <a:rPr lang="en-US" dirty="0"/>
              <a:t> </a:t>
            </a:r>
            <a:r>
              <a:rPr dirty="0"/>
              <a:t>clicks, typing, submitting forms, hovering, or pressing keys. </a:t>
            </a:r>
            <a:endParaRPr lang="en-US" dirty="0"/>
          </a:p>
          <a:p>
            <a:pPr>
              <a:defRPr sz="2200"/>
            </a:pPr>
            <a:r>
              <a:rPr dirty="0"/>
              <a:t>It is one of the</a:t>
            </a:r>
            <a:r>
              <a:rPr lang="en-US" dirty="0"/>
              <a:t> </a:t>
            </a:r>
            <a:r>
              <a:rPr dirty="0"/>
              <a:t>main ways React apps become interactive.</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is</a:t>
            </a:r>
          </a:p>
        </p:txBody>
      </p:sp>
      <p:sp>
        <p:nvSpPr>
          <p:cNvPr id="3" name="Content Placeholder 2"/>
          <p:cNvSpPr>
            <a:spLocks noGrp="1"/>
          </p:cNvSpPr>
          <p:nvPr>
            <p:ph idx="1"/>
          </p:nvPr>
        </p:nvSpPr>
        <p:spPr/>
        <p:txBody>
          <a:bodyPr/>
          <a:lstStyle/>
          <a:p>
            <a:pPr>
              <a:defRPr sz="2200"/>
            </a:pPr>
            <a:r>
              <a:rPr dirty="0"/>
              <a:t>In React, you attach event handlers directly in JSX using camelCase names like</a:t>
            </a:r>
            <a:r>
              <a:rPr lang="en-US" dirty="0"/>
              <a:t> </a:t>
            </a:r>
            <a:r>
              <a:rPr dirty="0" err="1"/>
              <a:t>onClick</a:t>
            </a:r>
            <a:r>
              <a:rPr dirty="0"/>
              <a:t>, </a:t>
            </a:r>
            <a:r>
              <a:rPr dirty="0" err="1"/>
              <a:t>onChange</a:t>
            </a:r>
            <a:r>
              <a:rPr dirty="0"/>
              <a:t>, and </a:t>
            </a:r>
            <a:r>
              <a:rPr dirty="0" err="1"/>
              <a:t>onSubmit</a:t>
            </a:r>
            <a:r>
              <a:rPr dirty="0"/>
              <a:t>. The handler is usually a JavaScript function</a:t>
            </a:r>
            <a:r>
              <a:rPr lang="en-US" dirty="0"/>
              <a:t> </a:t>
            </a:r>
            <a:r>
              <a:rPr dirty="0"/>
              <a:t>that runs when the event happens.</a:t>
            </a:r>
          </a:p>
          <a:p>
            <a:pPr>
              <a:defRPr sz="2200"/>
            </a:pPr>
            <a:r>
              <a:rPr dirty="0"/>
              <a:t>function App() {</a:t>
            </a:r>
          </a:p>
          <a:p>
            <a:pPr>
              <a:defRPr sz="2200"/>
            </a:pPr>
            <a:r>
              <a:rPr dirty="0"/>
              <a:t>function </a:t>
            </a:r>
            <a:r>
              <a:rPr dirty="0" err="1"/>
              <a:t>handleClick</a:t>
            </a:r>
            <a:r>
              <a:rPr dirty="0"/>
              <a:t>() {</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matters</a:t>
            </a:r>
          </a:p>
        </p:txBody>
      </p:sp>
      <p:sp>
        <p:nvSpPr>
          <p:cNvPr id="3" name="Content Placeholder 2"/>
          <p:cNvSpPr>
            <a:spLocks noGrp="1"/>
          </p:cNvSpPr>
          <p:nvPr>
            <p:ph idx="1"/>
          </p:nvPr>
        </p:nvSpPr>
        <p:spPr/>
        <p:txBody>
          <a:bodyPr/>
          <a:lstStyle/>
          <a:p>
            <a:pPr>
              <a:defRPr sz="2200"/>
            </a:pPr>
            <a:r>
              <a:t>Event handling lets the UI react to user input in real time:</a:t>
            </a:r>
          </a:p>
          <a:p>
            <a:pPr>
              <a:defRPr sz="2200"/>
            </a:pPr>
            <a:r>
              <a:t>Clicking buttons.</a:t>
            </a:r>
          </a:p>
          <a:p>
            <a:pPr>
              <a:defRPr sz="2200"/>
            </a:pPr>
            <a:r>
              <a:t>Typing in inputs.</a:t>
            </a:r>
          </a:p>
          <a:p>
            <a:pPr>
              <a:defRPr sz="2200"/>
            </a:pPr>
            <a:r>
              <a:t>Submitting forms.</a:t>
            </a:r>
          </a:p>
          <a:p>
            <a:pPr>
              <a:defRPr sz="2200"/>
            </a:pPr>
            <a:r>
              <a:t>Selecting options.</a:t>
            </a:r>
          </a:p>
          <a:p>
            <a:pPr>
              <a:defRPr sz="2200"/>
            </a:pPr>
            <a:r>
              <a:t>Hovering elements.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matters (cont.)</a:t>
            </a:r>
          </a:p>
        </p:txBody>
      </p:sp>
      <p:sp>
        <p:nvSpPr>
          <p:cNvPr id="3" name="Content Placeholder 2"/>
          <p:cNvSpPr>
            <a:spLocks noGrp="1"/>
          </p:cNvSpPr>
          <p:nvPr>
            <p:ph idx="1"/>
          </p:nvPr>
        </p:nvSpPr>
        <p:spPr/>
        <p:txBody>
          <a:bodyPr/>
          <a:lstStyle/>
          <a:p>
            <a:pPr>
              <a:defRPr sz="2200"/>
            </a:pPr>
            <a:r>
              <a:t>Pressing keys.</a:t>
            </a:r>
          </a:p>
          <a:p>
            <a:pPr>
              <a:defRPr sz="2200"/>
            </a:pPr>
            <a:r>
              <a:t>Without event handling, a React app would just display static content.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event syntax</a:t>
            </a:r>
          </a:p>
        </p:txBody>
      </p:sp>
      <p:sp>
        <p:nvSpPr>
          <p:cNvPr id="3" name="Content Placeholder 2"/>
          <p:cNvSpPr>
            <a:spLocks noGrp="1"/>
          </p:cNvSpPr>
          <p:nvPr>
            <p:ph idx="1"/>
          </p:nvPr>
        </p:nvSpPr>
        <p:spPr/>
        <p:txBody>
          <a:bodyPr/>
          <a:lstStyle/>
          <a:p>
            <a:pPr>
              <a:defRPr sz="2200"/>
            </a:pPr>
            <a:r>
              <a:t>React uses JSX-style event names, not HTML-style lowercase names.</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onMouseEnter</a:t>
            </a:r>
            <a:endParaRPr lang="en-IN" dirty="0"/>
          </a:p>
        </p:txBody>
      </p:sp>
      <p:sp>
        <p:nvSpPr>
          <p:cNvPr id="3" name="Content Placeholder 2"/>
          <p:cNvSpPr>
            <a:spLocks noGrp="1"/>
          </p:cNvSpPr>
          <p:nvPr>
            <p:ph idx="1"/>
          </p:nvPr>
        </p:nvSpPr>
        <p:spPr/>
        <p:txBody>
          <a:bodyPr/>
          <a:lstStyle/>
          <a:p>
            <a:pPr>
              <a:defRPr sz="2200"/>
            </a:pPr>
            <a:r>
              <a:t>&lt;button onClick={handleClick}&gt;Click&lt;/button&gt;</a:t>
            </a:r>
          </a:p>
          <a:p>
            <a:pPr>
              <a:defRPr sz="2200"/>
            </a:pPr>
            <a:r>
              <a:t>&lt;input onChange={handleChange} /&gt;</a:t>
            </a:r>
          </a:p>
          <a:p>
            <a:pPr>
              <a:defRPr sz="2200"/>
            </a:pPr>
            <a:r>
              <a:t>&lt;form onSubmit={handleSubmit}&gt;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Passing event handlers</a:t>
            </a:r>
          </a:p>
        </p:txBody>
      </p:sp>
      <p:sp>
        <p:nvSpPr>
          <p:cNvPr id="3" name="Content Placeholder 2"/>
          <p:cNvSpPr>
            <a:spLocks noGrp="1"/>
          </p:cNvSpPr>
          <p:nvPr>
            <p:ph idx="1"/>
          </p:nvPr>
        </p:nvSpPr>
        <p:spPr/>
        <p:txBody>
          <a:bodyPr/>
          <a:lstStyle/>
          <a:p>
            <a:pPr>
              <a:defRPr sz="2200"/>
            </a:pPr>
            <a:r>
              <a:t>You usually pass the function reference, not call it directly.</a:t>
            </a:r>
          </a:p>
          <a:p>
            <a:pPr>
              <a:defRPr sz="2200"/>
            </a:pPr>
            <a:r>
              <a:t>&lt;button onClick={handleClick}&gt;Click&lt;/button&gt;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rPr dirty="0"/>
              <a:t>&lt;button </a:t>
            </a:r>
            <a:r>
              <a:rPr dirty="0" err="1"/>
              <a:t>onClick</a:t>
            </a:r>
            <a:r>
              <a:rPr dirty="0"/>
              <a:t>={</a:t>
            </a:r>
            <a:r>
              <a:rPr dirty="0" err="1"/>
              <a:t>handleClick</a:t>
            </a:r>
            <a:r>
              <a:rPr dirty="0"/>
              <a:t>()}&gt;Click&lt;/button&gt;</a:t>
            </a:r>
          </a:p>
          <a:p>
            <a:pPr>
              <a:defRPr sz="2200"/>
            </a:pPr>
            <a:r>
              <a:rPr dirty="0"/>
              <a:t>The first one runs when the event happens. The second one runs immediately</a:t>
            </a:r>
            <a:r>
              <a:rPr lang="en-US" dirty="0"/>
              <a:t> </a:t>
            </a:r>
            <a:r>
              <a:rPr dirty="0"/>
              <a:t>during render.</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Event object</a:t>
            </a:r>
          </a:p>
        </p:txBody>
      </p:sp>
      <p:sp>
        <p:nvSpPr>
          <p:cNvPr id="3" name="Content Placeholder 2"/>
          <p:cNvSpPr>
            <a:spLocks noGrp="1"/>
          </p:cNvSpPr>
          <p:nvPr>
            <p:ph idx="1"/>
          </p:nvPr>
        </p:nvSpPr>
        <p:spPr/>
        <p:txBody>
          <a:bodyPr/>
          <a:lstStyle/>
          <a:p>
            <a:pPr>
              <a:defRPr sz="2200"/>
            </a:pPr>
            <a:r>
              <a:t>React gives your handler an event object with information about what happened.</a:t>
            </a:r>
          </a:p>
          <a:p>
            <a:pPr>
              <a:defRPr sz="2200"/>
            </a:pPr>
            <a:r>
              <a:t>function handleChange(event) {</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uses:</a:t>
            </a:r>
          </a:p>
        </p:txBody>
      </p:sp>
      <p:sp>
        <p:nvSpPr>
          <p:cNvPr id="3" name="Content Placeholder 2"/>
          <p:cNvSpPr>
            <a:spLocks noGrp="1"/>
          </p:cNvSpPr>
          <p:nvPr>
            <p:ph idx="1"/>
          </p:nvPr>
        </p:nvSpPr>
        <p:spPr/>
        <p:txBody>
          <a:bodyPr/>
          <a:lstStyle/>
          <a:p>
            <a:pPr>
              <a:defRPr sz="2200"/>
            </a:pPr>
            <a:r>
              <a:t>event.target to read the element that triggered the event.</a:t>
            </a:r>
          </a:p>
          <a:p>
            <a:pPr>
              <a:defRPr sz="2200"/>
            </a:pPr>
            <a:r>
              <a:t>event.preventDefault() to stop default behavior.</a:t>
            </a:r>
          </a:p>
          <a:p>
            <a:pPr>
              <a:defRPr sz="2200"/>
            </a:pPr>
            <a:r>
              <a:t>event.key for keyboard events.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events</a:t>
            </a:r>
          </a:p>
        </p:txBody>
      </p:sp>
      <p:sp>
        <p:nvSpPr>
          <p:cNvPr id="3" name="Content Placeholder 2"/>
          <p:cNvSpPr>
            <a:spLocks noGrp="1"/>
          </p:cNvSpPr>
          <p:nvPr>
            <p:ph idx="1"/>
          </p:nvPr>
        </p:nvSpPr>
        <p:spPr/>
        <p:txBody>
          <a:bodyPr/>
          <a:lstStyle/>
          <a:p>
            <a:pPr>
              <a:defRPr sz="2200"/>
            </a:pPr>
            <a:r>
              <a:t>function App() {</a:t>
            </a:r>
          </a:p>
          <a:p>
            <a:pPr>
              <a:defRPr sz="2200"/>
            </a:pPr>
            <a:r>
              <a:t>return &lt;button onClick={() =&gt; console.log("Clicked")}&gt;Click&lt;/button&gt;;</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Input change events</a:t>
            </a:r>
          </a:p>
        </p:txBody>
      </p:sp>
      <p:sp>
        <p:nvSpPr>
          <p:cNvPr id="3" name="Content Placeholder 2"/>
          <p:cNvSpPr>
            <a:spLocks noGrp="1"/>
          </p:cNvSpPr>
          <p:nvPr>
            <p:ph idx="1"/>
          </p:nvPr>
        </p:nvSpPr>
        <p:spPr/>
        <p:txBody>
          <a:bodyPr/>
          <a:lstStyle/>
          <a:p>
            <a:pPr>
              <a:defRPr sz="2200"/>
            </a:pPr>
            <a:r>
              <a:t>function App() {</a:t>
            </a:r>
          </a:p>
          <a:p>
            <a:pPr>
              <a:defRPr sz="2200"/>
            </a:pPr>
            <a:r>
              <a:t>function handleChange(event) {</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Form submit events</a:t>
            </a:r>
          </a:p>
        </p:txBody>
      </p:sp>
      <p:sp>
        <p:nvSpPr>
          <p:cNvPr id="3" name="Content Placeholder 2"/>
          <p:cNvSpPr>
            <a:spLocks noGrp="1"/>
          </p:cNvSpPr>
          <p:nvPr>
            <p:ph idx="1"/>
          </p:nvPr>
        </p:nvSpPr>
        <p:spPr/>
        <p:txBody>
          <a:bodyPr/>
          <a:lstStyle/>
          <a:p>
            <a:pPr>
              <a:defRPr sz="2200"/>
            </a:pPr>
            <a:r>
              <a:t>function App() {</a:t>
            </a:r>
          </a:p>
          <a:p>
            <a:pPr>
              <a:defRPr sz="2200"/>
            </a:pPr>
            <a:r>
              <a:t>function handleSubmit(event) {</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return (</a:t>
            </a:r>
          </a:p>
          <a:p>
            <a:pPr>
              <a:defRPr sz="2200"/>
            </a:pPr>
            <a:r>
              <a:t>&lt;form onSubmit={handleSubmit}&gt;</a:t>
            </a:r>
          </a:p>
          <a:p>
            <a:pPr>
              <a:defRPr sz="2200"/>
            </a:pPr>
            <a:r>
              <a:t>&lt;button type="submit"&gt;Submit&lt;/button&gt;</a:t>
            </a:r>
          </a:p>
          <a:p>
            <a:pPr>
              <a:defRPr sz="2200"/>
            </a:pPr>
            <a:r>
              <a:t>&lt;/form&gt;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Keyboard events</a:t>
            </a:r>
          </a:p>
        </p:txBody>
      </p:sp>
      <p:sp>
        <p:nvSpPr>
          <p:cNvPr id="3" name="Content Placeholder 2"/>
          <p:cNvSpPr>
            <a:spLocks noGrp="1"/>
          </p:cNvSpPr>
          <p:nvPr>
            <p:ph idx="1"/>
          </p:nvPr>
        </p:nvSpPr>
        <p:spPr/>
        <p:txBody>
          <a:bodyPr/>
          <a:lstStyle/>
          <a:p>
            <a:pPr>
              <a:defRPr sz="2200"/>
            </a:pPr>
            <a:r>
              <a:t>function App() {</a:t>
            </a:r>
          </a:p>
          <a:p>
            <a:pPr>
              <a:defRPr sz="2200"/>
            </a:pPr>
            <a:r>
              <a:t>function handleKeyDown(event) {</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Passing arguments to handlers</a:t>
            </a:r>
          </a:p>
        </p:txBody>
      </p:sp>
      <p:sp>
        <p:nvSpPr>
          <p:cNvPr id="3" name="Content Placeholder 2"/>
          <p:cNvSpPr>
            <a:spLocks noGrp="1"/>
          </p:cNvSpPr>
          <p:nvPr>
            <p:ph idx="1"/>
          </p:nvPr>
        </p:nvSpPr>
        <p:spPr/>
        <p:txBody>
          <a:bodyPr/>
          <a:lstStyle/>
          <a:p>
            <a:pPr>
              <a:defRPr sz="2200"/>
            </a:pPr>
            <a:r>
              <a:t>If you need to pass extra data, use an arrow function.</a:t>
            </a:r>
          </a:p>
          <a:p>
            <a:pPr>
              <a:defRPr sz="2200"/>
            </a:pPr>
            <a:r>
              <a:t>function App() {</a:t>
            </a:r>
          </a:p>
          <a:p>
            <a:pPr>
              <a:defRPr sz="2200"/>
            </a:pPr>
            <a:r>
              <a:t>function greet(name) {</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This is very common when mapping over lists or handling item-specific actions.</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Preventing default behavior</a:t>
            </a:r>
          </a:p>
        </p:txBody>
      </p:sp>
      <p:sp>
        <p:nvSpPr>
          <p:cNvPr id="3" name="Content Placeholder 2"/>
          <p:cNvSpPr>
            <a:spLocks noGrp="1"/>
          </p:cNvSpPr>
          <p:nvPr>
            <p:ph idx="1"/>
          </p:nvPr>
        </p:nvSpPr>
        <p:spPr/>
        <p:txBody>
          <a:bodyPr/>
          <a:lstStyle/>
          <a:p>
            <a:pPr>
              <a:defRPr sz="2200"/>
            </a:pPr>
            <a:r>
              <a:t>Use preventDefault() when you want to stop things like form reloads or link</a:t>
            </a:r>
            <a:br/>
            <a:r>
              <a:t>navigation.</a:t>
            </a:r>
          </a:p>
          <a:p>
            <a:pPr>
              <a:defRPr sz="2200"/>
            </a:pPr>
            <a:r>
              <a:t>function App() {</a:t>
            </a:r>
          </a:p>
          <a:p>
            <a:pPr>
              <a:defRPr sz="2200"/>
            </a:pPr>
            <a:r>
              <a:t>function handleSubmit(event) {</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return (</a:t>
            </a:r>
          </a:p>
          <a:p>
            <a:pPr>
              <a:defRPr sz="2200"/>
            </a:pPr>
            <a:r>
              <a:t>&lt;form onSubmit={handleSubmit}&gt;</a:t>
            </a:r>
          </a:p>
          <a:p>
            <a:pPr>
              <a:defRPr sz="2200"/>
            </a:pPr>
            <a:r>
              <a:t>&lt;button type="submit"&gt;Send&lt;/button&gt;</a:t>
            </a:r>
          </a:p>
          <a:p>
            <a:pPr>
              <a:defRPr sz="2200"/>
            </a:pPr>
            <a:r>
              <a:t>&lt;/form&gt;</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synthetic events</a:t>
            </a:r>
          </a:p>
        </p:txBody>
      </p:sp>
      <p:sp>
        <p:nvSpPr>
          <p:cNvPr id="3" name="Content Placeholder 2"/>
          <p:cNvSpPr>
            <a:spLocks noGrp="1"/>
          </p:cNvSpPr>
          <p:nvPr>
            <p:ph idx="1"/>
          </p:nvPr>
        </p:nvSpPr>
        <p:spPr/>
        <p:txBody>
          <a:bodyPr/>
          <a:lstStyle/>
          <a:p>
            <a:pPr>
              <a:defRPr sz="2200"/>
            </a:pPr>
            <a:r>
              <a:rPr dirty="0"/>
              <a:t>React uses its own event system called </a:t>
            </a:r>
            <a:r>
              <a:rPr dirty="0" err="1"/>
              <a:t>SyntheticEvent</a:t>
            </a:r>
            <a:r>
              <a:rPr dirty="0"/>
              <a:t> to give a consistent</a:t>
            </a:r>
            <a:r>
              <a:rPr lang="en-US" dirty="0"/>
              <a:t> </a:t>
            </a:r>
            <a:r>
              <a:rPr dirty="0"/>
              <a:t>interface across browsers. </a:t>
            </a:r>
            <a:endParaRPr lang="en-US" dirty="0"/>
          </a:p>
          <a:p>
            <a:pPr>
              <a:defRPr sz="2200"/>
            </a:pPr>
            <a:r>
              <a:rPr dirty="0"/>
              <a:t>For most everyday work, you use it the same way as a</a:t>
            </a:r>
            <a:r>
              <a:rPr lang="en-US" dirty="0"/>
              <a:t> </a:t>
            </a:r>
            <a:r>
              <a:rPr dirty="0"/>
              <a:t>normal event object.</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mistakes</a:t>
            </a:r>
          </a:p>
        </p:txBody>
      </p:sp>
      <p:sp>
        <p:nvSpPr>
          <p:cNvPr id="3" name="Content Placeholder 2"/>
          <p:cNvSpPr>
            <a:spLocks noGrp="1"/>
          </p:cNvSpPr>
          <p:nvPr>
            <p:ph idx="1"/>
          </p:nvPr>
        </p:nvSpPr>
        <p:spPr/>
        <p:txBody>
          <a:bodyPr/>
          <a:lstStyle/>
          <a:p>
            <a:pPr>
              <a:defRPr sz="2200"/>
            </a:pPr>
            <a:r>
              <a:t>Using onclick instead of onClick.</a:t>
            </a:r>
          </a:p>
          <a:p>
            <a:pPr>
              <a:defRPr sz="2200"/>
            </a:pPr>
            <a:r>
              <a:t>Calling the handler immediately instead of passing it.</a:t>
            </a:r>
          </a:p>
          <a:p>
            <a:pPr>
              <a:defRPr sz="2200"/>
            </a:pPr>
            <a:r>
              <a:t>Forgetting preventDefault() in forms.</a:t>
            </a:r>
          </a:p>
          <a:p>
            <a:pPr>
              <a:defRPr sz="2200"/>
            </a:pPr>
            <a:r>
              <a:t>Not reading values from event.target.</a:t>
            </a:r>
          </a:p>
          <a:p>
            <a:pPr>
              <a:defRPr sz="2200"/>
            </a:pPr>
            <a:r>
              <a:t>Overusing inline functions when the logic is complex.</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important in React</a:t>
            </a:r>
          </a:p>
        </p:txBody>
      </p:sp>
      <p:sp>
        <p:nvSpPr>
          <p:cNvPr id="3" name="Content Placeholder 2"/>
          <p:cNvSpPr>
            <a:spLocks noGrp="1"/>
          </p:cNvSpPr>
          <p:nvPr>
            <p:ph idx="1"/>
          </p:nvPr>
        </p:nvSpPr>
        <p:spPr/>
        <p:txBody>
          <a:bodyPr>
            <a:normAutofit/>
          </a:bodyPr>
          <a:lstStyle/>
          <a:p>
            <a:pPr>
              <a:defRPr sz="2200"/>
            </a:pPr>
            <a:r>
              <a:rPr dirty="0"/>
              <a:t>Event handling connects user actions to state updates. That means it is closely</a:t>
            </a:r>
            <a:r>
              <a:rPr lang="en-US" dirty="0"/>
              <a:t> </a:t>
            </a:r>
            <a:r>
              <a:rPr dirty="0"/>
              <a:t>tied to:</a:t>
            </a:r>
          </a:p>
          <a:p>
            <a:pPr>
              <a:defRPr sz="2200"/>
            </a:pPr>
            <a:r>
              <a:rPr dirty="0" err="1"/>
              <a:t>useState</a:t>
            </a:r>
            <a:r>
              <a:rPr dirty="0"/>
              <a:t>.</a:t>
            </a:r>
          </a:p>
          <a:p>
            <a:pPr>
              <a:defRPr sz="2200"/>
            </a:pPr>
            <a:r>
              <a:rPr dirty="0"/>
              <a:t>Forms.</a:t>
            </a:r>
          </a:p>
          <a:p>
            <a:pPr>
              <a:defRPr sz="2200"/>
            </a:pPr>
            <a:r>
              <a:rPr dirty="0"/>
              <a:t>Conditional rendering.</a:t>
            </a:r>
          </a:p>
          <a:p>
            <a:pPr>
              <a:defRPr sz="2200"/>
            </a:pPr>
            <a:r>
              <a:rPr dirty="0"/>
              <a:t>Lists.</a:t>
            </a:r>
          </a:p>
          <a:p>
            <a:pPr>
              <a:defRPr sz="2200"/>
            </a:pPr>
            <a:r>
              <a:rPr dirty="0"/>
              <a:t>Data updates.</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important in React (cont.)</a:t>
            </a:r>
          </a:p>
        </p:txBody>
      </p:sp>
      <p:sp>
        <p:nvSpPr>
          <p:cNvPr id="3" name="Content Placeholder 2"/>
          <p:cNvSpPr>
            <a:spLocks noGrp="1"/>
          </p:cNvSpPr>
          <p:nvPr>
            <p:ph idx="1"/>
          </p:nvPr>
        </p:nvSpPr>
        <p:spPr/>
        <p:txBody>
          <a:bodyPr/>
          <a:lstStyle/>
          <a:p>
            <a:pPr>
              <a:defRPr sz="2200"/>
            </a:pPr>
            <a:r>
              <a:rPr dirty="0"/>
              <a:t>If you understand event handling well, React components become much easier to</a:t>
            </a:r>
            <a:r>
              <a:rPr lang="en-US" dirty="0"/>
              <a:t> </a:t>
            </a:r>
            <a:r>
              <a:rPr dirty="0"/>
              <a:t>build and control.</a:t>
            </a:r>
          </a:p>
        </p:txBody>
      </p:sp>
    </p:spTree>
  </p:cSld>
  <p:clrMapOvr>
    <a:masterClrMapping/>
  </p:clrMapOvr>
</p:sld>
</file>

<file path=ppt/theme/theme1.xml><?xml version="1.0" encoding="utf-8"?>
<a:theme xmlns:a="http://schemas.openxmlformats.org/drawingml/2006/main" name="ABC Final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BC Final Theme" id="{671380DE-0F6A-48AA-BCBD-DD1332E66760}" vid="{BFD2BD10-29C3-40AA-8AC4-FE51644B68EC}"/>
    </a:ext>
  </a:extLst>
</a:theme>
</file>

<file path=docProps/app.xml><?xml version="1.0" encoding="utf-8"?>
<Properties xmlns="http://schemas.openxmlformats.org/officeDocument/2006/extended-properties" xmlns:vt="http://schemas.openxmlformats.org/officeDocument/2006/docPropsVTypes">
  <Template>ABC Final Theme</Template>
  <TotalTime>559</TotalTime>
  <Words>4606</Words>
  <Application>Microsoft Office PowerPoint</Application>
  <PresentationFormat>Widescreen</PresentationFormat>
  <Paragraphs>614</Paragraphs>
  <Slides>127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127</vt:i4>
      </vt:variant>
    </vt:vector>
  </HeadingPairs>
  <TitlesOfParts>
    <vt:vector size="132" baseType="lpstr">
      <vt:lpstr>Arial</vt:lpstr>
      <vt:lpstr>Calibri</vt:lpstr>
      <vt:lpstr>IBM Plex Sans</vt:lpstr>
      <vt:lpstr>Quicksand</vt:lpstr>
      <vt:lpstr>ABC Final Theme</vt:lpstr>
      <vt:lpstr>ReactJS Fundamentals</vt:lpstr>
      <vt:lpstr>What is ReactJS?</vt:lpstr>
      <vt:lpstr>Basics</vt:lpstr>
      <vt:lpstr>Why use React?</vt:lpstr>
      <vt:lpstr>What problem it solves</vt:lpstr>
      <vt:lpstr>Why it is so popular</vt:lpstr>
      <vt:lpstr>Why it is so popular</vt:lpstr>
      <vt:lpstr>Virtual DOM</vt:lpstr>
      <vt:lpstr>Virtual DOM</vt:lpstr>
      <vt:lpstr>Virtual DOM How it works</vt:lpstr>
      <vt:lpstr>JavaScript vs ReactJS</vt:lpstr>
      <vt:lpstr>Basic difference</vt:lpstr>
      <vt:lpstr>What each one does</vt:lpstr>
      <vt:lpstr>What each one does</vt:lpstr>
      <vt:lpstr>What each one does</vt:lpstr>
      <vt:lpstr>Problem React solves over plain JavaScript</vt:lpstr>
      <vt:lpstr>Why React feels easier for bigger apps</vt:lpstr>
      <vt:lpstr>Which one should you learn first?</vt:lpstr>
      <vt:lpstr>Which one should you learn first?</vt:lpstr>
      <vt:lpstr>Short conclusion</vt:lpstr>
      <vt:lpstr>What is Vite?</vt:lpstr>
      <vt:lpstr>Why Vite is used</vt:lpstr>
      <vt:lpstr>What problem Vite solves</vt:lpstr>
      <vt:lpstr>Why it is popular</vt:lpstr>
      <vt:lpstr>Creating a React project using Vite</vt:lpstr>
      <vt:lpstr>Creating a React project using Vite</vt:lpstr>
      <vt:lpstr>Creating a React project using Vite</vt:lpstr>
      <vt:lpstr>Creating a React project using Vite</vt:lpstr>
      <vt:lpstr>Basic project structure</vt:lpstr>
      <vt:lpstr>Simple React example in Vite</vt:lpstr>
      <vt:lpstr>Simple React example in Vite</vt:lpstr>
      <vt:lpstr>What is JSX?</vt:lpstr>
      <vt:lpstr>Simple idea</vt:lpstr>
      <vt:lpstr>Why JSX is used</vt:lpstr>
      <vt:lpstr>JSX vs HTML</vt:lpstr>
      <vt:lpstr>JSX Rules</vt:lpstr>
      <vt:lpstr>JSX Rules</vt:lpstr>
      <vt:lpstr>JSX Rules</vt:lpstr>
      <vt:lpstr>JSX Rules</vt:lpstr>
      <vt:lpstr>JSX Rules</vt:lpstr>
      <vt:lpstr>JSX Rules</vt:lpstr>
      <vt:lpstr>JSX Rules</vt:lpstr>
      <vt:lpstr>JSX Rules</vt:lpstr>
      <vt:lpstr>JSX Rules</vt:lpstr>
      <vt:lpstr>JSX Rules</vt:lpstr>
      <vt:lpstr>JSX Rules</vt:lpstr>
      <vt:lpstr>JSX Rules</vt:lpstr>
      <vt:lpstr>JSX Rules</vt:lpstr>
      <vt:lpstr>JSX Rules</vt:lpstr>
      <vt:lpstr>JSX Rules</vt:lpstr>
      <vt:lpstr>Why JSX matters in React</vt:lpstr>
      <vt:lpstr>React Components</vt:lpstr>
      <vt:lpstr>React Components</vt:lpstr>
      <vt:lpstr>What a component is</vt:lpstr>
      <vt:lpstr>Why components are used</vt:lpstr>
      <vt:lpstr>1. Functional components</vt:lpstr>
      <vt:lpstr>2. Class components</vt:lpstr>
      <vt:lpstr>2. Class components</vt:lpstr>
      <vt:lpstr>Components with props</vt:lpstr>
      <vt:lpstr>Components with props</vt:lpstr>
      <vt:lpstr>Components with state</vt:lpstr>
      <vt:lpstr>Components with state</vt:lpstr>
      <vt:lpstr>Why components are so important</vt:lpstr>
      <vt:lpstr>Simple component hierarchy</vt:lpstr>
      <vt:lpstr>Simple component hierarchy</vt:lpstr>
      <vt:lpstr>React Props</vt:lpstr>
      <vt:lpstr>What props are</vt:lpstr>
      <vt:lpstr>Props help you:</vt:lpstr>
      <vt:lpstr>How props are passed</vt:lpstr>
      <vt:lpstr>PowerPoint Presentation</vt:lpstr>
      <vt:lpstr>PowerPoint Presentation</vt:lpstr>
      <vt:lpstr>Destructuring props</vt:lpstr>
      <vt:lpstr>Props can pass many kinds of data:</vt:lpstr>
      <vt:lpstr>Props can pass many kinds of data: (cont.)</vt:lpstr>
      <vt:lpstr>Read-only nature of props</vt:lpstr>
      <vt:lpstr>props.children</vt:lpstr>
      <vt:lpstr> </vt:lpstr>
      <vt:lpstr>PowerPoint Presentation</vt:lpstr>
      <vt:lpstr>Default props / fallback values</vt:lpstr>
      <vt:lpstr>PowerPoint Presentation</vt:lpstr>
      <vt:lpstr>Props vs state</vt:lpstr>
      <vt:lpstr>Simple way to remember:</vt:lpstr>
      <vt:lpstr>Why props matter so much</vt:lpstr>
      <vt:lpstr>React State</vt:lpstr>
      <vt:lpstr>What state is</vt:lpstr>
      <vt:lpstr>What state is (cont.)</vt:lpstr>
      <vt:lpstr>Why state is needed</vt:lpstr>
      <vt:lpstr>For example:</vt:lpstr>
      <vt:lpstr>State vs regular variables</vt:lpstr>
      <vt:lpstr>PowerPoint Presentation</vt:lpstr>
      <vt:lpstr>useState hook</vt:lpstr>
      <vt:lpstr>How state updates work</vt:lpstr>
      <vt:lpstr>PowerPoint Presentation</vt:lpstr>
      <vt:lpstr>State can store almost any value:</vt:lpstr>
      <vt:lpstr>Examples:</vt:lpstr>
      <vt:lpstr>State is used in many interactive UI features:</vt:lpstr>
      <vt:lpstr>When state changes:</vt:lpstr>
      <vt:lpstr>State is local</vt:lpstr>
      <vt:lpstr>State vs props</vt:lpstr>
      <vt:lpstr>Simple memory trick:</vt:lpstr>
      <vt:lpstr>Example with input state</vt:lpstr>
      <vt:lpstr>/&gt;</vt:lpstr>
      <vt:lpstr>Example with toggle state</vt:lpstr>
      <vt:lpstr>Why state is important in React</vt:lpstr>
      <vt:lpstr>React Event Handling</vt:lpstr>
      <vt:lpstr>What it is</vt:lpstr>
      <vt:lpstr>Why it matters</vt:lpstr>
      <vt:lpstr>Why it matters (cont.)</vt:lpstr>
      <vt:lpstr>React event syntax</vt:lpstr>
      <vt:lpstr>onMouseEnter</vt:lpstr>
      <vt:lpstr>Passing event handlers</vt:lpstr>
      <vt:lpstr>PowerPoint Presentation</vt:lpstr>
      <vt:lpstr>Event object</vt:lpstr>
      <vt:lpstr>Common uses:</vt:lpstr>
      <vt:lpstr>Click events</vt:lpstr>
      <vt:lpstr>Input change events</vt:lpstr>
      <vt:lpstr>Form submit events</vt:lpstr>
      <vt:lpstr>PowerPoint Presentation</vt:lpstr>
      <vt:lpstr>Keyboard events</vt:lpstr>
      <vt:lpstr>Passing arguments to handlers</vt:lpstr>
      <vt:lpstr>PowerPoint Presentation</vt:lpstr>
      <vt:lpstr>Preventing default behavior</vt:lpstr>
      <vt:lpstr>PowerPoint Presentation</vt:lpstr>
      <vt:lpstr>React synthetic events</vt:lpstr>
      <vt:lpstr>Common mistakes</vt:lpstr>
      <vt:lpstr>Why it is important in React</vt:lpstr>
      <vt:lpstr>Why it is important in React (cont.)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Rakesh Kr</cp:lastModifiedBy>
  <cp:revision>34</cp:revision>
  <dcterms:created xsi:type="dcterms:W3CDTF">2013-01-27T09:14:16Z</dcterms:created>
  <dcterms:modified xsi:type="dcterms:W3CDTF">2026-07-30T04:11:53Z</dcterms:modified>
  <cp:category/>
</cp:coreProperties>
</file>